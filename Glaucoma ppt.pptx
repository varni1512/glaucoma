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826683" y="769937"/>
            <a:ext cx="9753601" cy="1668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805083" y="2438400"/>
            <a:ext cx="4775201" cy="441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78981" y="6232200"/>
            <a:ext cx="258620" cy="248301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 txBox="1"/>
          <p:nvPr/>
        </p:nvSpPr>
        <p:spPr>
          <a:xfrm>
            <a:off x="45872" y="1068069"/>
            <a:ext cx="12100256" cy="916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5400" b="1">
                <a:solidFill>
                  <a:srgbClr val="289DD2"/>
                </a:solidFill>
                <a:latin typeface="Barlow Bold"/>
                <a:ea typeface="Barlow Bold"/>
                <a:cs typeface="Barlow Bold"/>
                <a:sym typeface="Barlow Bold"/>
              </a:defRPr>
            </a:lvl1pPr>
          </a:lstStyle>
          <a:p>
            <a:r>
              <a:t>IECS 2026</a:t>
            </a:r>
          </a:p>
        </p:txBody>
      </p:sp>
      <p:sp>
        <p:nvSpPr>
          <p:cNvPr id="21" name="Text 1"/>
          <p:cNvSpPr txBox="1"/>
          <p:nvPr/>
        </p:nvSpPr>
        <p:spPr>
          <a:xfrm>
            <a:off x="961641" y="2032884"/>
            <a:ext cx="10268717" cy="740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 algn="ctr">
              <a:lnSpc>
                <a:spcPts val="2600"/>
              </a:lnSpc>
              <a:defRPr sz="2000" spc="100">
                <a:solidFill>
                  <a:srgbClr val="365B6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FIRST IEEE INTERNATIONAL CONFERENCE ON</a:t>
            </a:r>
          </a:p>
          <a:p>
            <a:pPr algn="ctr">
              <a:lnSpc>
                <a:spcPts val="2600"/>
              </a:lnSpc>
              <a:defRPr sz="2000" spc="100">
                <a:solidFill>
                  <a:srgbClr val="365B6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INTELLIGENT ELECTRONICS &amp; COMPUTATIONAL SYSTEM</a:t>
            </a:r>
          </a:p>
        </p:txBody>
      </p:sp>
      <p:sp>
        <p:nvSpPr>
          <p:cNvPr id="22" name="Shape 2"/>
          <p:cNvSpPr/>
          <p:nvPr/>
        </p:nvSpPr>
        <p:spPr>
          <a:xfrm>
            <a:off x="1464563" y="3172248"/>
            <a:ext cx="9262874" cy="1737363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miter lim="400000"/>
          </a:ln>
          <a:effectLst>
            <a:outerShdw blurRad="101600" dist="38100" dir="5400000" rotWithShape="0">
              <a:srgbClr val="365B6D">
                <a:alpha val="1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23" name="Text 3"/>
          <p:cNvSpPr txBox="1"/>
          <p:nvPr/>
        </p:nvSpPr>
        <p:spPr>
          <a:xfrm>
            <a:off x="1784603" y="3290933"/>
            <a:ext cx="8622795" cy="99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 algn="ctr">
              <a:lnSpc>
                <a:spcPts val="2400"/>
              </a:lnSpc>
              <a:defRPr sz="1900" b="1">
                <a:solidFill>
                  <a:srgbClr val="24333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Classification of Glaucoma Stages Using Image Empirical Mode</a:t>
            </a:r>
          </a:p>
          <a:p>
            <a:pPr algn="ctr">
              <a:lnSpc>
                <a:spcPts val="2400"/>
              </a:lnSpc>
              <a:defRPr sz="1900" b="1">
                <a:solidFill>
                  <a:srgbClr val="24333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Decomposition and an Ensemble Learning Framework from Retinal Fundus Images</a:t>
            </a:r>
          </a:p>
        </p:txBody>
      </p:sp>
      <p:sp>
        <p:nvSpPr>
          <p:cNvPr id="24" name="Text 4"/>
          <p:cNvSpPr txBox="1"/>
          <p:nvPr/>
        </p:nvSpPr>
        <p:spPr>
          <a:xfrm>
            <a:off x="1784603" y="4354586"/>
            <a:ext cx="8622795" cy="287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400">
                <a:solidFill>
                  <a:srgbClr val="6C928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Zoya Ejaz  •  Varni Kumar Patel  •  Ajay Sharma  •  Praveen Kumar Tyagi  •  Devendra Kumar Bajpai</a:t>
            </a:r>
          </a:p>
        </p:txBody>
      </p:sp>
      <p:sp>
        <p:nvSpPr>
          <p:cNvPr id="25" name="Text 6"/>
          <p:cNvSpPr txBox="1"/>
          <p:nvPr/>
        </p:nvSpPr>
        <p:spPr>
          <a:xfrm>
            <a:off x="45717" y="6564628"/>
            <a:ext cx="12100261" cy="23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100" spc="200">
                <a:solidFill>
                  <a:srgbClr val="6C928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VIT BHOPAL UNIVERSITY, INDIA</a:t>
            </a:r>
          </a:p>
        </p:txBody>
      </p:sp>
      <p:sp>
        <p:nvSpPr>
          <p:cNvPr id="26" name="TextBox 1"/>
          <p:cNvSpPr txBox="1"/>
          <p:nvPr/>
        </p:nvSpPr>
        <p:spPr>
          <a:xfrm>
            <a:off x="4777482" y="5390931"/>
            <a:ext cx="3236359" cy="523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dirty="0"/>
              <a:t>Paper ID: 2356</a:t>
            </a:r>
          </a:p>
        </p:txBody>
      </p:sp>
      <p:sp>
        <p:nvSpPr>
          <p:cNvPr id="27" name="Freeform 7"/>
          <p:cNvSpPr/>
          <p:nvPr/>
        </p:nvSpPr>
        <p:spPr>
          <a:xfrm>
            <a:off x="36536" y="5331364"/>
            <a:ext cx="1418390" cy="1426929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28" name="Freeform 5"/>
          <p:cNvSpPr/>
          <p:nvPr/>
        </p:nvSpPr>
        <p:spPr>
          <a:xfrm>
            <a:off x="8807604" y="90301"/>
            <a:ext cx="3102232" cy="12513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17" y="0"/>
                </a:moveTo>
                <a:lnTo>
                  <a:pt x="20283" y="0"/>
                </a:lnTo>
                <a:cubicBezTo>
                  <a:pt x="21010" y="0"/>
                  <a:pt x="21600" y="1249"/>
                  <a:pt x="21600" y="2789"/>
                </a:cubicBezTo>
                <a:lnTo>
                  <a:pt x="21600" y="18811"/>
                </a:lnTo>
                <a:cubicBezTo>
                  <a:pt x="21600" y="19551"/>
                  <a:pt x="21461" y="20260"/>
                  <a:pt x="21214" y="20783"/>
                </a:cubicBezTo>
                <a:cubicBezTo>
                  <a:pt x="20967" y="21306"/>
                  <a:pt x="20632" y="21600"/>
                  <a:pt x="20283" y="21600"/>
                </a:cubicBezTo>
                <a:lnTo>
                  <a:pt x="1317" y="21600"/>
                </a:lnTo>
                <a:cubicBezTo>
                  <a:pt x="968" y="21600"/>
                  <a:pt x="633" y="21306"/>
                  <a:pt x="386" y="20783"/>
                </a:cubicBezTo>
                <a:cubicBezTo>
                  <a:pt x="139" y="20260"/>
                  <a:pt x="0" y="19551"/>
                  <a:pt x="0" y="18811"/>
                </a:cubicBezTo>
                <a:lnTo>
                  <a:pt x="0" y="2789"/>
                </a:lnTo>
                <a:cubicBezTo>
                  <a:pt x="0" y="2049"/>
                  <a:pt x="139" y="1340"/>
                  <a:pt x="386" y="817"/>
                </a:cubicBezTo>
                <a:cubicBezTo>
                  <a:pt x="633" y="294"/>
                  <a:pt x="968" y="0"/>
                  <a:pt x="1317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29" name="Freeform 3"/>
          <p:cNvSpPr/>
          <p:nvPr/>
        </p:nvSpPr>
        <p:spPr>
          <a:xfrm>
            <a:off x="36878" y="2525"/>
            <a:ext cx="3102233" cy="14269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17" y="0"/>
                </a:moveTo>
                <a:lnTo>
                  <a:pt x="20283" y="0"/>
                </a:lnTo>
                <a:cubicBezTo>
                  <a:pt x="21010" y="0"/>
                  <a:pt x="21600" y="1249"/>
                  <a:pt x="21600" y="2789"/>
                </a:cubicBezTo>
                <a:lnTo>
                  <a:pt x="21600" y="18811"/>
                </a:lnTo>
                <a:cubicBezTo>
                  <a:pt x="21600" y="19551"/>
                  <a:pt x="21461" y="20260"/>
                  <a:pt x="21214" y="20783"/>
                </a:cubicBezTo>
                <a:cubicBezTo>
                  <a:pt x="20967" y="21306"/>
                  <a:pt x="20632" y="21600"/>
                  <a:pt x="20283" y="21600"/>
                </a:cubicBezTo>
                <a:lnTo>
                  <a:pt x="1317" y="21600"/>
                </a:lnTo>
                <a:cubicBezTo>
                  <a:pt x="968" y="21600"/>
                  <a:pt x="633" y="21306"/>
                  <a:pt x="386" y="20783"/>
                </a:cubicBezTo>
                <a:cubicBezTo>
                  <a:pt x="139" y="20260"/>
                  <a:pt x="0" y="19551"/>
                  <a:pt x="0" y="18811"/>
                </a:cubicBezTo>
                <a:lnTo>
                  <a:pt x="0" y="2789"/>
                </a:lnTo>
                <a:cubicBezTo>
                  <a:pt x="0" y="2049"/>
                  <a:pt x="139" y="1340"/>
                  <a:pt x="386" y="817"/>
                </a:cubicBezTo>
                <a:cubicBezTo>
                  <a:pt x="633" y="294"/>
                  <a:pt x="968" y="0"/>
                  <a:pt x="1317" y="0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2"/>
          <p:cNvSpPr/>
          <p:nvPr/>
        </p:nvSpPr>
        <p:spPr>
          <a:xfrm>
            <a:off x="548640" y="1417319"/>
            <a:ext cx="11091672" cy="4937763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32" name="Text 0"/>
          <p:cNvSpPr txBox="1"/>
          <p:nvPr/>
        </p:nvSpPr>
        <p:spPr>
          <a:xfrm>
            <a:off x="-190420" y="102723"/>
            <a:ext cx="12100256" cy="849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5400" b="1">
                <a:solidFill>
                  <a:srgbClr val="289DD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IECS 2026</a:t>
            </a:r>
          </a:p>
        </p:txBody>
      </p:sp>
      <p:sp>
        <p:nvSpPr>
          <p:cNvPr id="33" name="Text 6"/>
          <p:cNvSpPr txBox="1"/>
          <p:nvPr/>
        </p:nvSpPr>
        <p:spPr>
          <a:xfrm>
            <a:off x="45717" y="6590028"/>
            <a:ext cx="12100261" cy="23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100" spc="200">
                <a:solidFill>
                  <a:srgbClr val="6C928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VIT BHOPAL UNIVERSITY, INDIA</a:t>
            </a:r>
          </a:p>
        </p:txBody>
      </p:sp>
      <p:sp>
        <p:nvSpPr>
          <p:cNvPr id="34" name="TextBox 1"/>
          <p:cNvSpPr txBox="1"/>
          <p:nvPr/>
        </p:nvSpPr>
        <p:spPr>
          <a:xfrm>
            <a:off x="2062841" y="1544420"/>
            <a:ext cx="8066318" cy="4879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buSzPct val="100000"/>
              <a:buAutoNum type="arabicPeriod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Introduction</a:t>
            </a:r>
          </a:p>
          <a:p>
            <a:pPr marL="342900" indent="-342900">
              <a:buSzPct val="100000"/>
              <a:buAutoNum type="arabicPeriod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Literature Review</a:t>
            </a:r>
          </a:p>
          <a:p>
            <a:pPr marL="342900" indent="-342900">
              <a:buSzPct val="100000"/>
              <a:buAutoNum type="arabicPeriod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Methodology</a:t>
            </a:r>
          </a:p>
          <a:p>
            <a:pPr marL="342900" indent="-342900">
              <a:buSzPct val="100000"/>
              <a:buAutoNum type="arabicPeriod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Dataset</a:t>
            </a:r>
          </a:p>
          <a:p>
            <a:pPr marL="342900" indent="-342900">
              <a:buSzPct val="100000"/>
              <a:buAutoNum type="arabicPeriod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Preprocessing </a:t>
            </a:r>
          </a:p>
          <a:p>
            <a:pPr marL="342900" indent="-342900">
              <a:buSzPct val="100000"/>
              <a:buAutoNum type="arabicPeriod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Multi-Source Feature Extraction</a:t>
            </a:r>
          </a:p>
          <a:p>
            <a:pPr marL="342900" indent="-342900">
              <a:buSzPct val="100000"/>
              <a:buAutoNum type="arabicPeriod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Image Empirical Mode Decomposition (IEMD)</a:t>
            </a:r>
          </a:p>
          <a:p>
            <a:pPr marL="342900" indent="-342900">
              <a:buSzPct val="100000"/>
              <a:buAutoNum type="arabicPeriod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Feature Selection &amp; Dimensionality Reduction</a:t>
            </a:r>
          </a:p>
          <a:p>
            <a:pPr marL="342900" indent="-342900">
              <a:buSzPct val="100000"/>
              <a:buAutoNum type="arabicPeriod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Model Evaluation</a:t>
            </a:r>
          </a:p>
          <a:p>
            <a:pPr marL="342900" indent="-342900">
              <a:buSzPct val="100000"/>
              <a:buAutoNum type="arabicPeriod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Output</a:t>
            </a:r>
          </a:p>
          <a:p>
            <a:pPr marL="342900" indent="-342900">
              <a:buSzPct val="100000"/>
              <a:buAutoNum type="arabicPeriod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Results</a:t>
            </a:r>
          </a:p>
          <a:p>
            <a:pPr marL="342900" indent="-342900">
              <a:buSzPct val="100000"/>
              <a:buAutoNum type="arabicPeriod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Conclusion</a:t>
            </a:r>
          </a:p>
          <a:p>
            <a:pPr marL="342900" indent="-342900">
              <a:buSzPct val="100000"/>
              <a:buAutoNum type="arabicPeriod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References</a:t>
            </a:r>
          </a:p>
        </p:txBody>
      </p:sp>
      <p:sp>
        <p:nvSpPr>
          <p:cNvPr id="35" name="Text 1"/>
          <p:cNvSpPr txBox="1"/>
          <p:nvPr/>
        </p:nvSpPr>
        <p:spPr>
          <a:xfrm>
            <a:off x="5465679" y="845989"/>
            <a:ext cx="1260642" cy="531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3100" b="1">
                <a:solidFill>
                  <a:srgbClr val="365B6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 Index</a:t>
            </a:r>
          </a:p>
        </p:txBody>
      </p:sp>
      <p:sp>
        <p:nvSpPr>
          <p:cNvPr id="36" name="Freeform 7"/>
          <p:cNvSpPr/>
          <p:nvPr/>
        </p:nvSpPr>
        <p:spPr>
          <a:xfrm>
            <a:off x="36536" y="5331364"/>
            <a:ext cx="1418390" cy="1426929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37" name="Freeform 5"/>
          <p:cNvSpPr/>
          <p:nvPr/>
        </p:nvSpPr>
        <p:spPr>
          <a:xfrm>
            <a:off x="8807604" y="90301"/>
            <a:ext cx="3102232" cy="12513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17" y="0"/>
                </a:moveTo>
                <a:lnTo>
                  <a:pt x="20283" y="0"/>
                </a:lnTo>
                <a:cubicBezTo>
                  <a:pt x="21010" y="0"/>
                  <a:pt x="21600" y="1249"/>
                  <a:pt x="21600" y="2789"/>
                </a:cubicBezTo>
                <a:lnTo>
                  <a:pt x="21600" y="18811"/>
                </a:lnTo>
                <a:cubicBezTo>
                  <a:pt x="21600" y="19551"/>
                  <a:pt x="21461" y="20260"/>
                  <a:pt x="21214" y="20783"/>
                </a:cubicBezTo>
                <a:cubicBezTo>
                  <a:pt x="20967" y="21306"/>
                  <a:pt x="20632" y="21600"/>
                  <a:pt x="20283" y="21600"/>
                </a:cubicBezTo>
                <a:lnTo>
                  <a:pt x="1317" y="21600"/>
                </a:lnTo>
                <a:cubicBezTo>
                  <a:pt x="968" y="21600"/>
                  <a:pt x="633" y="21306"/>
                  <a:pt x="386" y="20783"/>
                </a:cubicBezTo>
                <a:cubicBezTo>
                  <a:pt x="139" y="20260"/>
                  <a:pt x="0" y="19551"/>
                  <a:pt x="0" y="18811"/>
                </a:cubicBezTo>
                <a:lnTo>
                  <a:pt x="0" y="2789"/>
                </a:lnTo>
                <a:cubicBezTo>
                  <a:pt x="0" y="2049"/>
                  <a:pt x="139" y="1340"/>
                  <a:pt x="386" y="817"/>
                </a:cubicBezTo>
                <a:cubicBezTo>
                  <a:pt x="633" y="294"/>
                  <a:pt x="968" y="0"/>
                  <a:pt x="1317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38" name="Freeform 3"/>
          <p:cNvSpPr/>
          <p:nvPr/>
        </p:nvSpPr>
        <p:spPr>
          <a:xfrm>
            <a:off x="36878" y="2525"/>
            <a:ext cx="3102233" cy="14269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17" y="0"/>
                </a:moveTo>
                <a:lnTo>
                  <a:pt x="20283" y="0"/>
                </a:lnTo>
                <a:cubicBezTo>
                  <a:pt x="21010" y="0"/>
                  <a:pt x="21600" y="1249"/>
                  <a:pt x="21600" y="2789"/>
                </a:cubicBezTo>
                <a:lnTo>
                  <a:pt x="21600" y="18811"/>
                </a:lnTo>
                <a:cubicBezTo>
                  <a:pt x="21600" y="19551"/>
                  <a:pt x="21461" y="20260"/>
                  <a:pt x="21214" y="20783"/>
                </a:cubicBezTo>
                <a:cubicBezTo>
                  <a:pt x="20967" y="21306"/>
                  <a:pt x="20632" y="21600"/>
                  <a:pt x="20283" y="21600"/>
                </a:cubicBezTo>
                <a:lnTo>
                  <a:pt x="1317" y="21600"/>
                </a:lnTo>
                <a:cubicBezTo>
                  <a:pt x="968" y="21600"/>
                  <a:pt x="633" y="21306"/>
                  <a:pt x="386" y="20783"/>
                </a:cubicBezTo>
                <a:cubicBezTo>
                  <a:pt x="139" y="20260"/>
                  <a:pt x="0" y="19551"/>
                  <a:pt x="0" y="18811"/>
                </a:cubicBezTo>
                <a:lnTo>
                  <a:pt x="0" y="2789"/>
                </a:lnTo>
                <a:cubicBezTo>
                  <a:pt x="0" y="2049"/>
                  <a:pt x="139" y="1340"/>
                  <a:pt x="386" y="817"/>
                </a:cubicBezTo>
                <a:cubicBezTo>
                  <a:pt x="633" y="294"/>
                  <a:pt x="968" y="0"/>
                  <a:pt x="1317" y="0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1"/>
          <p:cNvSpPr txBox="1"/>
          <p:nvPr/>
        </p:nvSpPr>
        <p:spPr>
          <a:xfrm>
            <a:off x="4896751" y="892324"/>
            <a:ext cx="2398498" cy="531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3100" b="1">
                <a:solidFill>
                  <a:srgbClr val="365B6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 Introduction</a:t>
            </a:r>
          </a:p>
        </p:txBody>
      </p:sp>
      <p:sp>
        <p:nvSpPr>
          <p:cNvPr id="41" name="Shape 2"/>
          <p:cNvSpPr/>
          <p:nvPr/>
        </p:nvSpPr>
        <p:spPr>
          <a:xfrm>
            <a:off x="548640" y="1417319"/>
            <a:ext cx="11091672" cy="4937763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42" name="Text 3"/>
          <p:cNvSpPr txBox="1"/>
          <p:nvPr/>
        </p:nvSpPr>
        <p:spPr>
          <a:xfrm>
            <a:off x="1263394" y="1693175"/>
            <a:ext cx="9901432" cy="4322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28600" indent="-228600" algn="just">
              <a:spcBef>
                <a:spcPts val="1400"/>
              </a:spcBef>
              <a:buSzPct val="100000"/>
              <a:buChar char="•"/>
              <a:defRPr sz="1900">
                <a:solidFill>
                  <a:srgbClr val="24333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Glaucoma is a progressive disease of the optic nerve, usually linked to increased pressure inside the eye (IOP).Second leading cause of vision loss worldwide.</a:t>
            </a:r>
          </a:p>
          <a:p>
            <a:pPr marL="228600" indent="-228600" algn="just">
              <a:spcBef>
                <a:spcPts val="1400"/>
              </a:spcBef>
              <a:buSzPct val="100000"/>
              <a:buChar char="•"/>
              <a:defRPr sz="1900">
                <a:solidFill>
                  <a:srgbClr val="24333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 affects an estimated 80 million people worldwide and is the second leading cause of blindness globally.</a:t>
            </a:r>
            <a:endParaRPr sz="1500"/>
          </a:p>
          <a:p>
            <a:pPr marL="228600" indent="-228600" algn="just">
              <a:spcBef>
                <a:spcPts val="1400"/>
              </a:spcBef>
              <a:buSzPct val="100000"/>
              <a:buChar char="•"/>
              <a:defRPr sz="1900">
                <a:solidFill>
                  <a:srgbClr val="24333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Unlike cataracts, once glaucoma damages the optic nerve, the vision loss is permanent and irreversible.</a:t>
            </a:r>
            <a:endParaRPr sz="1500"/>
          </a:p>
          <a:p>
            <a:pPr marL="228600" indent="-228600" algn="just">
              <a:spcBef>
                <a:spcPts val="1400"/>
              </a:spcBef>
              <a:buSzPct val="100000"/>
              <a:buChar char="•"/>
              <a:defRPr sz="1900">
                <a:solidFill>
                  <a:srgbClr val="24333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Early detection is the only real solution, this makes automated, accessible screening tools critical, especially in areas with limited access to eye specialists.</a:t>
            </a:r>
            <a:endParaRPr sz="1500"/>
          </a:p>
          <a:p>
            <a:pPr marL="228600" indent="-228600" algn="just">
              <a:spcBef>
                <a:spcPts val="1400"/>
              </a:spcBef>
              <a:buSzPct val="100000"/>
              <a:buChar char="•"/>
              <a:defRPr sz="1900">
                <a:solidFill>
                  <a:srgbClr val="24333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Conventional tests (tonometry, ophthalmoscopy, perimetry) are effective but time-consuming, skill-dependent and hard to scale in resource-poor regions.</a:t>
            </a:r>
            <a:endParaRPr sz="1500"/>
          </a:p>
          <a:p>
            <a:pPr marL="228600" indent="-228600" algn="just">
              <a:spcBef>
                <a:spcPts val="1400"/>
              </a:spcBef>
              <a:buSzPct val="100000"/>
              <a:buChar char="•"/>
              <a:defRPr sz="1900">
                <a:solidFill>
                  <a:srgbClr val="24333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Retinal fundus photography offers a non-invasive, low-cost, and accessible alternative — well suited to automated analysis.</a:t>
            </a:r>
          </a:p>
        </p:txBody>
      </p:sp>
      <p:sp>
        <p:nvSpPr>
          <p:cNvPr id="43" name="Text 4"/>
          <p:cNvSpPr txBox="1"/>
          <p:nvPr/>
        </p:nvSpPr>
        <p:spPr>
          <a:xfrm>
            <a:off x="45717" y="6564628"/>
            <a:ext cx="12100261" cy="23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100" spc="200">
                <a:solidFill>
                  <a:srgbClr val="6C928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VIT BHOPAL UNIVERSITY, INDIA</a:t>
            </a:r>
          </a:p>
        </p:txBody>
      </p:sp>
      <p:sp>
        <p:nvSpPr>
          <p:cNvPr id="44" name="Text 5"/>
          <p:cNvSpPr txBox="1"/>
          <p:nvPr/>
        </p:nvSpPr>
        <p:spPr>
          <a:xfrm>
            <a:off x="11567159" y="6543340"/>
            <a:ext cx="365763" cy="226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000">
                <a:solidFill>
                  <a:srgbClr val="6C928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2</a:t>
            </a:r>
          </a:p>
        </p:txBody>
      </p:sp>
      <p:sp>
        <p:nvSpPr>
          <p:cNvPr id="45" name="Freeform 5"/>
          <p:cNvSpPr/>
          <p:nvPr/>
        </p:nvSpPr>
        <p:spPr>
          <a:xfrm>
            <a:off x="8807604" y="90301"/>
            <a:ext cx="3102232" cy="125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17" y="0"/>
                </a:moveTo>
                <a:lnTo>
                  <a:pt x="20283" y="0"/>
                </a:lnTo>
                <a:cubicBezTo>
                  <a:pt x="21010" y="0"/>
                  <a:pt x="21600" y="1249"/>
                  <a:pt x="21600" y="2789"/>
                </a:cubicBezTo>
                <a:lnTo>
                  <a:pt x="21600" y="18811"/>
                </a:lnTo>
                <a:cubicBezTo>
                  <a:pt x="21600" y="19551"/>
                  <a:pt x="21461" y="20260"/>
                  <a:pt x="21214" y="20783"/>
                </a:cubicBezTo>
                <a:cubicBezTo>
                  <a:pt x="20967" y="21306"/>
                  <a:pt x="20632" y="21600"/>
                  <a:pt x="20283" y="21600"/>
                </a:cubicBezTo>
                <a:lnTo>
                  <a:pt x="1317" y="21600"/>
                </a:lnTo>
                <a:cubicBezTo>
                  <a:pt x="968" y="21600"/>
                  <a:pt x="633" y="21306"/>
                  <a:pt x="386" y="20783"/>
                </a:cubicBezTo>
                <a:cubicBezTo>
                  <a:pt x="139" y="20260"/>
                  <a:pt x="0" y="19551"/>
                  <a:pt x="0" y="18811"/>
                </a:cubicBezTo>
                <a:lnTo>
                  <a:pt x="0" y="2789"/>
                </a:lnTo>
                <a:cubicBezTo>
                  <a:pt x="0" y="2049"/>
                  <a:pt x="139" y="1340"/>
                  <a:pt x="386" y="817"/>
                </a:cubicBezTo>
                <a:cubicBezTo>
                  <a:pt x="633" y="294"/>
                  <a:pt x="968" y="0"/>
                  <a:pt x="1317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46" name="Freeform 3"/>
          <p:cNvSpPr/>
          <p:nvPr/>
        </p:nvSpPr>
        <p:spPr>
          <a:xfrm>
            <a:off x="36878" y="2525"/>
            <a:ext cx="3102233" cy="14269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17" y="0"/>
                </a:moveTo>
                <a:lnTo>
                  <a:pt x="20283" y="0"/>
                </a:lnTo>
                <a:cubicBezTo>
                  <a:pt x="21010" y="0"/>
                  <a:pt x="21600" y="1249"/>
                  <a:pt x="21600" y="2789"/>
                </a:cubicBezTo>
                <a:lnTo>
                  <a:pt x="21600" y="18811"/>
                </a:lnTo>
                <a:cubicBezTo>
                  <a:pt x="21600" y="19551"/>
                  <a:pt x="21461" y="20260"/>
                  <a:pt x="21214" y="20783"/>
                </a:cubicBezTo>
                <a:cubicBezTo>
                  <a:pt x="20967" y="21306"/>
                  <a:pt x="20632" y="21600"/>
                  <a:pt x="20283" y="21600"/>
                </a:cubicBezTo>
                <a:lnTo>
                  <a:pt x="1317" y="21600"/>
                </a:lnTo>
                <a:cubicBezTo>
                  <a:pt x="968" y="21600"/>
                  <a:pt x="633" y="21306"/>
                  <a:pt x="386" y="20783"/>
                </a:cubicBezTo>
                <a:cubicBezTo>
                  <a:pt x="139" y="20260"/>
                  <a:pt x="0" y="19551"/>
                  <a:pt x="0" y="18811"/>
                </a:cubicBezTo>
                <a:lnTo>
                  <a:pt x="0" y="2789"/>
                </a:lnTo>
                <a:cubicBezTo>
                  <a:pt x="0" y="2049"/>
                  <a:pt x="139" y="1340"/>
                  <a:pt x="386" y="817"/>
                </a:cubicBezTo>
                <a:cubicBezTo>
                  <a:pt x="633" y="294"/>
                  <a:pt x="968" y="0"/>
                  <a:pt x="1317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47" name="Freeform 7"/>
          <p:cNvSpPr/>
          <p:nvPr/>
        </p:nvSpPr>
        <p:spPr>
          <a:xfrm>
            <a:off x="36536" y="5331364"/>
            <a:ext cx="1418390" cy="1426929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48" name="Text 0"/>
          <p:cNvSpPr txBox="1"/>
          <p:nvPr/>
        </p:nvSpPr>
        <p:spPr>
          <a:xfrm>
            <a:off x="-190420" y="102723"/>
            <a:ext cx="12100256" cy="849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5400" b="1">
                <a:solidFill>
                  <a:srgbClr val="289DD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IECS 2026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1"/>
          <p:cNvSpPr txBox="1"/>
          <p:nvPr/>
        </p:nvSpPr>
        <p:spPr>
          <a:xfrm>
            <a:off x="4440459" y="833182"/>
            <a:ext cx="3311083" cy="531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3100" b="1">
                <a:solidFill>
                  <a:srgbClr val="365B6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 Literature Review</a:t>
            </a:r>
          </a:p>
        </p:txBody>
      </p:sp>
      <p:sp>
        <p:nvSpPr>
          <p:cNvPr id="51" name="Shape 2"/>
          <p:cNvSpPr/>
          <p:nvPr/>
        </p:nvSpPr>
        <p:spPr>
          <a:xfrm>
            <a:off x="548640" y="1417319"/>
            <a:ext cx="11091672" cy="4937763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2" name="Text 4"/>
          <p:cNvSpPr txBox="1"/>
          <p:nvPr/>
        </p:nvSpPr>
        <p:spPr>
          <a:xfrm>
            <a:off x="45717" y="6564628"/>
            <a:ext cx="12100261" cy="23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100" spc="200">
                <a:solidFill>
                  <a:srgbClr val="6C928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VIT BHOPAL UNIVERSITY, INDIA</a:t>
            </a:r>
          </a:p>
        </p:txBody>
      </p:sp>
      <p:sp>
        <p:nvSpPr>
          <p:cNvPr id="53" name="Text 5"/>
          <p:cNvSpPr txBox="1"/>
          <p:nvPr/>
        </p:nvSpPr>
        <p:spPr>
          <a:xfrm>
            <a:off x="11567159" y="6543340"/>
            <a:ext cx="365763" cy="226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000">
                <a:solidFill>
                  <a:srgbClr val="6C928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2</a:t>
            </a:r>
          </a:p>
        </p:txBody>
      </p:sp>
      <p:sp>
        <p:nvSpPr>
          <p:cNvPr id="54" name="Freeform 5"/>
          <p:cNvSpPr/>
          <p:nvPr/>
        </p:nvSpPr>
        <p:spPr>
          <a:xfrm>
            <a:off x="8807604" y="90301"/>
            <a:ext cx="3102232" cy="12513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17" y="0"/>
                </a:moveTo>
                <a:lnTo>
                  <a:pt x="20283" y="0"/>
                </a:lnTo>
                <a:cubicBezTo>
                  <a:pt x="21010" y="0"/>
                  <a:pt x="21600" y="1249"/>
                  <a:pt x="21600" y="2789"/>
                </a:cubicBezTo>
                <a:lnTo>
                  <a:pt x="21600" y="18811"/>
                </a:lnTo>
                <a:cubicBezTo>
                  <a:pt x="21600" y="19551"/>
                  <a:pt x="21461" y="20260"/>
                  <a:pt x="21214" y="20783"/>
                </a:cubicBezTo>
                <a:cubicBezTo>
                  <a:pt x="20967" y="21306"/>
                  <a:pt x="20632" y="21600"/>
                  <a:pt x="20283" y="21600"/>
                </a:cubicBezTo>
                <a:lnTo>
                  <a:pt x="1317" y="21600"/>
                </a:lnTo>
                <a:cubicBezTo>
                  <a:pt x="968" y="21600"/>
                  <a:pt x="633" y="21306"/>
                  <a:pt x="386" y="20783"/>
                </a:cubicBezTo>
                <a:cubicBezTo>
                  <a:pt x="139" y="20260"/>
                  <a:pt x="0" y="19551"/>
                  <a:pt x="0" y="18811"/>
                </a:cubicBezTo>
                <a:lnTo>
                  <a:pt x="0" y="2789"/>
                </a:lnTo>
                <a:cubicBezTo>
                  <a:pt x="0" y="2049"/>
                  <a:pt x="139" y="1340"/>
                  <a:pt x="386" y="817"/>
                </a:cubicBezTo>
                <a:cubicBezTo>
                  <a:pt x="633" y="294"/>
                  <a:pt x="968" y="0"/>
                  <a:pt x="1317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5" name="Freeform 3"/>
          <p:cNvSpPr/>
          <p:nvPr/>
        </p:nvSpPr>
        <p:spPr>
          <a:xfrm>
            <a:off x="36878" y="2525"/>
            <a:ext cx="3102233" cy="14269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17" y="0"/>
                </a:moveTo>
                <a:lnTo>
                  <a:pt x="20283" y="0"/>
                </a:lnTo>
                <a:cubicBezTo>
                  <a:pt x="21010" y="0"/>
                  <a:pt x="21600" y="1249"/>
                  <a:pt x="21600" y="2789"/>
                </a:cubicBezTo>
                <a:lnTo>
                  <a:pt x="21600" y="18811"/>
                </a:lnTo>
                <a:cubicBezTo>
                  <a:pt x="21600" y="19551"/>
                  <a:pt x="21461" y="20260"/>
                  <a:pt x="21214" y="20783"/>
                </a:cubicBezTo>
                <a:cubicBezTo>
                  <a:pt x="20967" y="21306"/>
                  <a:pt x="20632" y="21600"/>
                  <a:pt x="20283" y="21600"/>
                </a:cubicBezTo>
                <a:lnTo>
                  <a:pt x="1317" y="21600"/>
                </a:lnTo>
                <a:cubicBezTo>
                  <a:pt x="968" y="21600"/>
                  <a:pt x="633" y="21306"/>
                  <a:pt x="386" y="20783"/>
                </a:cubicBezTo>
                <a:cubicBezTo>
                  <a:pt x="139" y="20260"/>
                  <a:pt x="0" y="19551"/>
                  <a:pt x="0" y="18811"/>
                </a:cubicBezTo>
                <a:lnTo>
                  <a:pt x="0" y="2789"/>
                </a:lnTo>
                <a:cubicBezTo>
                  <a:pt x="0" y="2049"/>
                  <a:pt x="139" y="1340"/>
                  <a:pt x="386" y="817"/>
                </a:cubicBezTo>
                <a:cubicBezTo>
                  <a:pt x="633" y="294"/>
                  <a:pt x="968" y="0"/>
                  <a:pt x="1317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6" name="Text 0"/>
          <p:cNvSpPr txBox="1"/>
          <p:nvPr/>
        </p:nvSpPr>
        <p:spPr>
          <a:xfrm>
            <a:off x="-190420" y="102723"/>
            <a:ext cx="12100256" cy="849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5400" b="1">
                <a:solidFill>
                  <a:srgbClr val="289DD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IECS 2026</a:t>
            </a:r>
          </a:p>
        </p:txBody>
      </p:sp>
      <p:sp>
        <p:nvSpPr>
          <p:cNvPr id="57" name="Text 2"/>
          <p:cNvSpPr txBox="1"/>
          <p:nvPr/>
        </p:nvSpPr>
        <p:spPr>
          <a:xfrm>
            <a:off x="535092" y="1490155"/>
            <a:ext cx="11091673" cy="639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900">
                <a:solidFill>
                  <a:srgbClr val="365B6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Automated fundus-based glaucoma detection has evolved from global frequency-domain features to deep learning and hybrid decomposition methods.</a:t>
            </a:r>
          </a:p>
        </p:txBody>
      </p:sp>
      <p:graphicFrame>
        <p:nvGraphicFramePr>
          <p:cNvPr id="58" name="Table 0"/>
          <p:cNvGraphicFramePr/>
          <p:nvPr/>
        </p:nvGraphicFramePr>
        <p:xfrm>
          <a:off x="550163" y="2260523"/>
          <a:ext cx="11091672" cy="3486912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89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0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Author(s)</a:t>
                      </a:r>
                    </a:p>
                  </a:txBody>
                  <a:tcPr marL="45720" marR="45720" anchor="ctr" horzOverflow="overflow">
                    <a:lnL>
                      <a:solidFill>
                        <a:srgbClr val="D8D5C9"/>
                      </a:solidFill>
                    </a:lnL>
                    <a:lnR>
                      <a:solidFill>
                        <a:srgbClr val="D8D5C9"/>
                      </a:solidFill>
                    </a:lnR>
                    <a:lnT>
                      <a:solidFill>
                        <a:srgbClr val="D8D5C9"/>
                      </a:solidFill>
                    </a:lnT>
                    <a:lnB>
                      <a:solidFill>
                        <a:srgbClr val="D8D5C9"/>
                      </a:solidFill>
                    </a:lnB>
                    <a:solidFill>
                      <a:srgbClr val="365B6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</a:t>
                      </a:r>
                    </a:p>
                  </a:txBody>
                  <a:tcPr marL="45720" marR="45720" anchor="ctr" horzOverflow="overflow">
                    <a:lnL>
                      <a:solidFill>
                        <a:srgbClr val="D8D5C9"/>
                      </a:solidFill>
                    </a:lnL>
                    <a:lnR>
                      <a:solidFill>
                        <a:srgbClr val="D8D5C9"/>
                      </a:solidFill>
                    </a:lnR>
                    <a:lnT>
                      <a:solidFill>
                        <a:srgbClr val="D8D5C9"/>
                      </a:solidFill>
                    </a:lnT>
                    <a:lnB>
                      <a:solidFill>
                        <a:srgbClr val="D8D5C9"/>
                      </a:solidFill>
                    </a:lnB>
                    <a:solidFill>
                      <a:srgbClr val="365B6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</a:t>
                      </a:r>
                    </a:p>
                  </a:txBody>
                  <a:tcPr marL="45720" marR="45720" anchor="ctr" horzOverflow="overflow">
                    <a:lnL>
                      <a:solidFill>
                        <a:srgbClr val="D8D5C9"/>
                      </a:solidFill>
                    </a:lnL>
                    <a:lnR>
                      <a:solidFill>
                        <a:srgbClr val="D8D5C9"/>
                      </a:solidFill>
                    </a:lnR>
                    <a:lnT>
                      <a:solidFill>
                        <a:srgbClr val="D8D5C9"/>
                      </a:solidFill>
                    </a:lnT>
                    <a:lnB>
                      <a:solidFill>
                        <a:srgbClr val="D8D5C9"/>
                      </a:solidFill>
                    </a:lnB>
                    <a:solidFill>
                      <a:srgbClr val="365B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def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Nayak et al. [1]</a:t>
                      </a:r>
                    </a:p>
                  </a:txBody>
                  <a:tcPr marL="45720" marR="45720" anchor="ctr" horzOverflow="overflow">
                    <a:lnL>
                      <a:solidFill>
                        <a:srgbClr val="D8D5C9"/>
                      </a:solidFill>
                    </a:lnL>
                    <a:lnR>
                      <a:solidFill>
                        <a:srgbClr val="D8D5C9"/>
                      </a:solidFill>
                    </a:lnR>
                    <a:lnT>
                      <a:solidFill>
                        <a:srgbClr val="D8D5C9"/>
                      </a:solidFill>
                    </a:lnT>
                    <a:lnB>
                      <a:solidFill>
                        <a:srgbClr val="D8D5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Artificial Neural Network (ANN) on handcrafted fundus features</a:t>
                      </a:r>
                    </a:p>
                  </a:txBody>
                  <a:tcPr marL="45720" marR="45720" anchor="ctr" horzOverflow="overflow">
                    <a:lnL>
                      <a:solidFill>
                        <a:srgbClr val="D8D5C9"/>
                      </a:solidFill>
                    </a:lnL>
                    <a:lnR>
                      <a:solidFill>
                        <a:srgbClr val="D8D5C9"/>
                      </a:solidFill>
                    </a:lnR>
                    <a:lnT>
                      <a:solidFill>
                        <a:srgbClr val="D8D5C9"/>
                      </a:solidFill>
                    </a:lnT>
                    <a:lnB>
                      <a:solidFill>
                        <a:srgbClr val="D8D5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Basic ANN on handcrafted features; no ensemble or multi-fold robustness validation</a:t>
                      </a:r>
                    </a:p>
                  </a:txBody>
                  <a:tcPr marL="45720" marR="45720" anchor="ctr" horzOverflow="overflow">
                    <a:lnL>
                      <a:solidFill>
                        <a:srgbClr val="D8D5C9"/>
                      </a:solidFill>
                    </a:lnL>
                    <a:lnR>
                      <a:solidFill>
                        <a:srgbClr val="D8D5C9"/>
                      </a:solidFill>
                    </a:lnR>
                    <a:lnT>
                      <a:solidFill>
                        <a:srgbClr val="D8D5C9"/>
                      </a:solidFill>
                    </a:lnT>
                    <a:lnB>
                      <a:solidFill>
                        <a:srgbClr val="D8D5C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def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Acharya et al. [2]</a:t>
                      </a:r>
                    </a:p>
                  </a:txBody>
                  <a:tcPr marL="45720" marR="45720" anchor="ctr" horzOverflow="overflow">
                    <a:lnL>
                      <a:solidFill>
                        <a:srgbClr val="D8D5C9"/>
                      </a:solidFill>
                    </a:lnL>
                    <a:lnR>
                      <a:solidFill>
                        <a:srgbClr val="D8D5C9"/>
                      </a:solidFill>
                    </a:lnR>
                    <a:lnT>
                      <a:solidFill>
                        <a:srgbClr val="D8D5C9"/>
                      </a:solidFill>
                    </a:lnT>
                    <a:lnB>
                      <a:solidFill>
                        <a:srgbClr val="D8D5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Gabor transform descriptors + Least-Squares SVM (LS-SVM)</a:t>
                      </a:r>
                    </a:p>
                  </a:txBody>
                  <a:tcPr marL="45720" marR="45720" anchor="ctr" horzOverflow="overflow">
                    <a:lnL>
                      <a:solidFill>
                        <a:srgbClr val="D8D5C9"/>
                      </a:solidFill>
                    </a:lnL>
                    <a:lnR>
                      <a:solidFill>
                        <a:srgbClr val="D8D5C9"/>
                      </a:solidFill>
                    </a:lnR>
                    <a:lnT>
                      <a:solidFill>
                        <a:srgbClr val="D8D5C9"/>
                      </a:solidFill>
                    </a:lnT>
                    <a:lnB>
                      <a:solidFill>
                        <a:srgbClr val="D8D5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Single feature type (Gabor only) and single classifier; limited texture information, no multi-source features</a:t>
                      </a:r>
                    </a:p>
                  </a:txBody>
                  <a:tcPr marL="45720" marR="45720" anchor="ctr" horzOverflow="overflow">
                    <a:lnL>
                      <a:solidFill>
                        <a:srgbClr val="D8D5C9"/>
                      </a:solidFill>
                    </a:lnL>
                    <a:lnR>
                      <a:solidFill>
                        <a:srgbClr val="D8D5C9"/>
                      </a:solidFill>
                    </a:lnR>
                    <a:lnT>
                      <a:solidFill>
                        <a:srgbClr val="D8D5C9"/>
                      </a:solidFill>
                    </a:lnT>
                    <a:lnB>
                      <a:solidFill>
                        <a:srgbClr val="D8D5C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433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Maheshwari et al.  [3]</a:t>
                      </a:r>
                    </a:p>
                  </a:txBody>
                  <a:tcPr marL="45720" marR="45720" anchor="ctr" horzOverflow="overflow">
                    <a:lnL>
                      <a:solidFill>
                        <a:srgbClr val="D8D5C9"/>
                      </a:solidFill>
                    </a:lnL>
                    <a:lnR>
                      <a:solidFill>
                        <a:srgbClr val="D8D5C9"/>
                      </a:solidFill>
                    </a:lnR>
                    <a:lnT>
                      <a:solidFill>
                        <a:srgbClr val="D8D5C9"/>
                      </a:solidFill>
                    </a:lnT>
                    <a:lnB>
                      <a:solidFill>
                        <a:srgbClr val="D8D5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Empirical Wavelet Transform (EWT) + classification</a:t>
                      </a:r>
                    </a:p>
                  </a:txBody>
                  <a:tcPr marL="45720" marR="45720" anchor="ctr" horzOverflow="overflow">
                    <a:lnL>
                      <a:solidFill>
                        <a:srgbClr val="D8D5C9"/>
                      </a:solidFill>
                    </a:lnL>
                    <a:lnR>
                      <a:solidFill>
                        <a:srgbClr val="D8D5C9"/>
                      </a:solidFill>
                    </a:lnR>
                    <a:lnT>
                      <a:solidFill>
                        <a:srgbClr val="D8D5C9"/>
                      </a:solidFill>
                    </a:lnT>
                    <a:lnB>
                      <a:solidFill>
                        <a:srgbClr val="D8D5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Only 80.66% accuracy; EWT uses a fixed, predetermined wavelet basis — not adaptive to individual image structure</a:t>
                      </a:r>
                    </a:p>
                  </a:txBody>
                  <a:tcPr marL="45720" marR="45720" anchor="ctr" horzOverflow="overflow">
                    <a:lnL>
                      <a:solidFill>
                        <a:srgbClr val="D8D5C9"/>
                      </a:solidFill>
                    </a:lnL>
                    <a:lnR>
                      <a:solidFill>
                        <a:srgbClr val="D8D5C9"/>
                      </a:solidFill>
                    </a:lnR>
                    <a:lnT>
                      <a:solidFill>
                        <a:srgbClr val="D8D5C9"/>
                      </a:solidFill>
                    </a:lnT>
                    <a:lnB>
                      <a:solidFill>
                        <a:srgbClr val="D8D5C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2433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Yi et al. [4]</a:t>
                      </a:r>
                    </a:p>
                  </a:txBody>
                  <a:tcPr marL="45720" marR="45720" anchor="ctr" horzOverflow="overflow">
                    <a:lnL>
                      <a:solidFill>
                        <a:srgbClr val="D8D5C9"/>
                      </a:solidFill>
                    </a:lnL>
                    <a:lnR>
                      <a:solidFill>
                        <a:srgbClr val="D8D5C9"/>
                      </a:solidFill>
                    </a:lnR>
                    <a:lnT>
                      <a:solidFill>
                        <a:srgbClr val="D8D5C9"/>
                      </a:solidFill>
                    </a:lnT>
                    <a:lnB>
                      <a:solidFill>
                        <a:srgbClr val="D8D5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MTRA-CNN (deep learning, multi-scale transfer learning)</a:t>
                      </a:r>
                    </a:p>
                  </a:txBody>
                  <a:tcPr marL="45720" marR="45720" anchor="ctr" horzOverflow="overflow">
                    <a:lnL>
                      <a:solidFill>
                        <a:srgbClr val="D8D5C9"/>
                      </a:solidFill>
                    </a:lnL>
                    <a:lnR>
                      <a:solidFill>
                        <a:srgbClr val="D8D5C9"/>
                      </a:solidFill>
                    </a:lnR>
                    <a:lnT>
                      <a:solidFill>
                        <a:srgbClr val="D8D5C9"/>
                      </a:solidFill>
                    </a:lnT>
                    <a:lnB>
                      <a:solidFill>
                        <a:srgbClr val="D8D5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Needs large labeled data and heavy computation; less interpretable ("black box"); harder to deploy in low-resource clinical settings</a:t>
                      </a:r>
                    </a:p>
                  </a:txBody>
                  <a:tcPr marL="45720" marR="45720" anchor="ctr" horzOverflow="overflow">
                    <a:lnL>
                      <a:solidFill>
                        <a:srgbClr val="D8D5C9"/>
                      </a:solidFill>
                    </a:lnL>
                    <a:lnR>
                      <a:solidFill>
                        <a:srgbClr val="D8D5C9"/>
                      </a:solidFill>
                    </a:lnR>
                    <a:lnT>
                      <a:solidFill>
                        <a:srgbClr val="D8D5C9"/>
                      </a:solidFill>
                    </a:lnT>
                    <a:lnB>
                      <a:solidFill>
                        <a:srgbClr val="D8D5C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9" name="Text 4"/>
          <p:cNvSpPr txBox="1"/>
          <p:nvPr/>
        </p:nvSpPr>
        <p:spPr>
          <a:xfrm>
            <a:off x="1569425" y="5713749"/>
            <a:ext cx="9983732" cy="615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i="1">
                <a:solidFill>
                  <a:srgbClr val="289DD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Research gap: ensemble learning combined with Image Empirical Mode Decomposition (IEMD) remains largely unexplored on public benchmarks</a:t>
            </a:r>
            <a:r>
              <a:rPr sz="1600"/>
              <a:t>.</a:t>
            </a:r>
          </a:p>
        </p:txBody>
      </p:sp>
      <p:sp>
        <p:nvSpPr>
          <p:cNvPr id="60" name="Freeform 7"/>
          <p:cNvSpPr/>
          <p:nvPr/>
        </p:nvSpPr>
        <p:spPr>
          <a:xfrm>
            <a:off x="0" y="5526573"/>
            <a:ext cx="1418390" cy="1426929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 dirty="0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1"/>
          <p:cNvSpPr txBox="1"/>
          <p:nvPr/>
        </p:nvSpPr>
        <p:spPr>
          <a:xfrm>
            <a:off x="4881384" y="822255"/>
            <a:ext cx="2429232" cy="531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3100" b="1">
                <a:solidFill>
                  <a:srgbClr val="365B6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 Methodology</a:t>
            </a:r>
          </a:p>
        </p:txBody>
      </p:sp>
      <p:sp>
        <p:nvSpPr>
          <p:cNvPr id="63" name="Shape 2"/>
          <p:cNvSpPr/>
          <p:nvPr/>
        </p:nvSpPr>
        <p:spPr>
          <a:xfrm>
            <a:off x="548640" y="1417319"/>
            <a:ext cx="11091672" cy="4937763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64" name="Freeform 5"/>
          <p:cNvSpPr/>
          <p:nvPr/>
        </p:nvSpPr>
        <p:spPr>
          <a:xfrm>
            <a:off x="8807604" y="90301"/>
            <a:ext cx="3102232" cy="12513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17" y="0"/>
                </a:moveTo>
                <a:lnTo>
                  <a:pt x="20283" y="0"/>
                </a:lnTo>
                <a:cubicBezTo>
                  <a:pt x="21010" y="0"/>
                  <a:pt x="21600" y="1249"/>
                  <a:pt x="21600" y="2789"/>
                </a:cubicBezTo>
                <a:lnTo>
                  <a:pt x="21600" y="18811"/>
                </a:lnTo>
                <a:cubicBezTo>
                  <a:pt x="21600" y="19551"/>
                  <a:pt x="21461" y="20260"/>
                  <a:pt x="21214" y="20783"/>
                </a:cubicBezTo>
                <a:cubicBezTo>
                  <a:pt x="20967" y="21306"/>
                  <a:pt x="20632" y="21600"/>
                  <a:pt x="20283" y="21600"/>
                </a:cubicBezTo>
                <a:lnTo>
                  <a:pt x="1317" y="21600"/>
                </a:lnTo>
                <a:cubicBezTo>
                  <a:pt x="968" y="21600"/>
                  <a:pt x="633" y="21306"/>
                  <a:pt x="386" y="20783"/>
                </a:cubicBezTo>
                <a:cubicBezTo>
                  <a:pt x="139" y="20260"/>
                  <a:pt x="0" y="19551"/>
                  <a:pt x="0" y="18811"/>
                </a:cubicBezTo>
                <a:lnTo>
                  <a:pt x="0" y="2789"/>
                </a:lnTo>
                <a:cubicBezTo>
                  <a:pt x="0" y="2049"/>
                  <a:pt x="139" y="1340"/>
                  <a:pt x="386" y="817"/>
                </a:cubicBezTo>
                <a:cubicBezTo>
                  <a:pt x="633" y="294"/>
                  <a:pt x="968" y="0"/>
                  <a:pt x="1317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65" name="Freeform 3"/>
          <p:cNvSpPr/>
          <p:nvPr/>
        </p:nvSpPr>
        <p:spPr>
          <a:xfrm>
            <a:off x="36878" y="2525"/>
            <a:ext cx="3102233" cy="14269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17" y="0"/>
                </a:moveTo>
                <a:lnTo>
                  <a:pt x="20283" y="0"/>
                </a:lnTo>
                <a:cubicBezTo>
                  <a:pt x="21010" y="0"/>
                  <a:pt x="21600" y="1249"/>
                  <a:pt x="21600" y="2789"/>
                </a:cubicBezTo>
                <a:lnTo>
                  <a:pt x="21600" y="18811"/>
                </a:lnTo>
                <a:cubicBezTo>
                  <a:pt x="21600" y="19551"/>
                  <a:pt x="21461" y="20260"/>
                  <a:pt x="21214" y="20783"/>
                </a:cubicBezTo>
                <a:cubicBezTo>
                  <a:pt x="20967" y="21306"/>
                  <a:pt x="20632" y="21600"/>
                  <a:pt x="20283" y="21600"/>
                </a:cubicBezTo>
                <a:lnTo>
                  <a:pt x="1317" y="21600"/>
                </a:lnTo>
                <a:cubicBezTo>
                  <a:pt x="968" y="21600"/>
                  <a:pt x="633" y="21306"/>
                  <a:pt x="386" y="20783"/>
                </a:cubicBezTo>
                <a:cubicBezTo>
                  <a:pt x="139" y="20260"/>
                  <a:pt x="0" y="19551"/>
                  <a:pt x="0" y="18811"/>
                </a:cubicBezTo>
                <a:lnTo>
                  <a:pt x="0" y="2789"/>
                </a:lnTo>
                <a:cubicBezTo>
                  <a:pt x="0" y="2049"/>
                  <a:pt x="139" y="1340"/>
                  <a:pt x="386" y="817"/>
                </a:cubicBezTo>
                <a:cubicBezTo>
                  <a:pt x="633" y="294"/>
                  <a:pt x="968" y="0"/>
                  <a:pt x="1317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66" name="Text 0"/>
          <p:cNvSpPr txBox="1"/>
          <p:nvPr/>
        </p:nvSpPr>
        <p:spPr>
          <a:xfrm>
            <a:off x="-190420" y="102723"/>
            <a:ext cx="12100256" cy="849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5400" b="1">
                <a:solidFill>
                  <a:srgbClr val="289DD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IECS 2026</a:t>
            </a:r>
          </a:p>
        </p:txBody>
      </p:sp>
      <p:pic>
        <p:nvPicPr>
          <p:cNvPr id="67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88437" y="1404180"/>
            <a:ext cx="9815126" cy="4907565"/>
          </a:xfrm>
          <a:prstGeom prst="rect">
            <a:avLst/>
          </a:prstGeom>
          <a:ln w="12700">
            <a:miter lim="400000"/>
          </a:ln>
        </p:spPr>
      </p:pic>
      <p:sp>
        <p:nvSpPr>
          <p:cNvPr id="68" name="Freeform 7"/>
          <p:cNvSpPr/>
          <p:nvPr/>
        </p:nvSpPr>
        <p:spPr>
          <a:xfrm>
            <a:off x="36536" y="5331364"/>
            <a:ext cx="1418390" cy="1426929"/>
          </a:xfrm>
          <a:prstGeom prst="ellipse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69" name="Text 4"/>
          <p:cNvSpPr txBox="1"/>
          <p:nvPr/>
        </p:nvSpPr>
        <p:spPr>
          <a:xfrm>
            <a:off x="45717" y="6564628"/>
            <a:ext cx="12100261" cy="23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100" spc="200">
                <a:solidFill>
                  <a:srgbClr val="6C928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VIT BHOPAL UNIVERSITY, INDIA</a:t>
            </a:r>
          </a:p>
        </p:txBody>
      </p:sp>
      <p:sp>
        <p:nvSpPr>
          <p:cNvPr id="70" name="Fig. 1 : Complete processing pipeline for glaucoma classification."/>
          <p:cNvSpPr txBox="1"/>
          <p:nvPr/>
        </p:nvSpPr>
        <p:spPr>
          <a:xfrm>
            <a:off x="2901082" y="5720081"/>
            <a:ext cx="6456877" cy="360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defTabSz="457200"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Fig. 1 : Complete processing pipeline for glaucoma classification.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1"/>
          <p:cNvSpPr txBox="1"/>
          <p:nvPr/>
        </p:nvSpPr>
        <p:spPr>
          <a:xfrm>
            <a:off x="3956407" y="809764"/>
            <a:ext cx="4279186" cy="531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3100" b="1">
                <a:solidFill>
                  <a:srgbClr val="365B6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 Dataset- (RIM-One r12)</a:t>
            </a:r>
          </a:p>
        </p:txBody>
      </p:sp>
      <p:sp>
        <p:nvSpPr>
          <p:cNvPr id="73" name="Shape 2"/>
          <p:cNvSpPr/>
          <p:nvPr/>
        </p:nvSpPr>
        <p:spPr>
          <a:xfrm>
            <a:off x="548640" y="1417319"/>
            <a:ext cx="11091672" cy="4937763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74" name="Freeform 5"/>
          <p:cNvSpPr/>
          <p:nvPr/>
        </p:nvSpPr>
        <p:spPr>
          <a:xfrm>
            <a:off x="8807604" y="90301"/>
            <a:ext cx="3102232" cy="12513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17" y="0"/>
                </a:moveTo>
                <a:lnTo>
                  <a:pt x="20283" y="0"/>
                </a:lnTo>
                <a:cubicBezTo>
                  <a:pt x="21010" y="0"/>
                  <a:pt x="21600" y="1249"/>
                  <a:pt x="21600" y="2789"/>
                </a:cubicBezTo>
                <a:lnTo>
                  <a:pt x="21600" y="18811"/>
                </a:lnTo>
                <a:cubicBezTo>
                  <a:pt x="21600" y="19551"/>
                  <a:pt x="21461" y="20260"/>
                  <a:pt x="21214" y="20783"/>
                </a:cubicBezTo>
                <a:cubicBezTo>
                  <a:pt x="20967" y="21306"/>
                  <a:pt x="20632" y="21600"/>
                  <a:pt x="20283" y="21600"/>
                </a:cubicBezTo>
                <a:lnTo>
                  <a:pt x="1317" y="21600"/>
                </a:lnTo>
                <a:cubicBezTo>
                  <a:pt x="968" y="21600"/>
                  <a:pt x="633" y="21306"/>
                  <a:pt x="386" y="20783"/>
                </a:cubicBezTo>
                <a:cubicBezTo>
                  <a:pt x="139" y="20260"/>
                  <a:pt x="0" y="19551"/>
                  <a:pt x="0" y="18811"/>
                </a:cubicBezTo>
                <a:lnTo>
                  <a:pt x="0" y="2789"/>
                </a:lnTo>
                <a:cubicBezTo>
                  <a:pt x="0" y="2049"/>
                  <a:pt x="139" y="1340"/>
                  <a:pt x="386" y="817"/>
                </a:cubicBezTo>
                <a:cubicBezTo>
                  <a:pt x="633" y="294"/>
                  <a:pt x="968" y="0"/>
                  <a:pt x="1317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75" name="Freeform 3"/>
          <p:cNvSpPr/>
          <p:nvPr/>
        </p:nvSpPr>
        <p:spPr>
          <a:xfrm>
            <a:off x="36878" y="2525"/>
            <a:ext cx="3102233" cy="14269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17" y="0"/>
                </a:moveTo>
                <a:lnTo>
                  <a:pt x="20283" y="0"/>
                </a:lnTo>
                <a:cubicBezTo>
                  <a:pt x="21010" y="0"/>
                  <a:pt x="21600" y="1249"/>
                  <a:pt x="21600" y="2789"/>
                </a:cubicBezTo>
                <a:lnTo>
                  <a:pt x="21600" y="18811"/>
                </a:lnTo>
                <a:cubicBezTo>
                  <a:pt x="21600" y="19551"/>
                  <a:pt x="21461" y="20260"/>
                  <a:pt x="21214" y="20783"/>
                </a:cubicBezTo>
                <a:cubicBezTo>
                  <a:pt x="20967" y="21306"/>
                  <a:pt x="20632" y="21600"/>
                  <a:pt x="20283" y="21600"/>
                </a:cubicBezTo>
                <a:lnTo>
                  <a:pt x="1317" y="21600"/>
                </a:lnTo>
                <a:cubicBezTo>
                  <a:pt x="968" y="21600"/>
                  <a:pt x="633" y="21306"/>
                  <a:pt x="386" y="20783"/>
                </a:cubicBezTo>
                <a:cubicBezTo>
                  <a:pt x="139" y="20260"/>
                  <a:pt x="0" y="19551"/>
                  <a:pt x="0" y="18811"/>
                </a:cubicBezTo>
                <a:lnTo>
                  <a:pt x="0" y="2789"/>
                </a:lnTo>
                <a:cubicBezTo>
                  <a:pt x="0" y="2049"/>
                  <a:pt x="139" y="1340"/>
                  <a:pt x="386" y="817"/>
                </a:cubicBezTo>
                <a:cubicBezTo>
                  <a:pt x="633" y="294"/>
                  <a:pt x="968" y="0"/>
                  <a:pt x="1317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76" name="Text 0"/>
          <p:cNvSpPr txBox="1"/>
          <p:nvPr/>
        </p:nvSpPr>
        <p:spPr>
          <a:xfrm>
            <a:off x="-190420" y="102723"/>
            <a:ext cx="12100256" cy="849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5400" b="1">
                <a:solidFill>
                  <a:srgbClr val="289DD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IECS 2026</a:t>
            </a:r>
          </a:p>
        </p:txBody>
      </p:sp>
      <p:sp>
        <p:nvSpPr>
          <p:cNvPr id="77" name="Freeform 7"/>
          <p:cNvSpPr/>
          <p:nvPr/>
        </p:nvSpPr>
        <p:spPr>
          <a:xfrm>
            <a:off x="36536" y="5331364"/>
            <a:ext cx="1418390" cy="1426929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78" name="Source: fundus photographs collected at Spanish ophthalmology centers by the Medical Image Analysis Group (MIAG)…"/>
          <p:cNvSpPr txBox="1"/>
          <p:nvPr/>
        </p:nvSpPr>
        <p:spPr>
          <a:xfrm>
            <a:off x="895288" y="1693613"/>
            <a:ext cx="10401423" cy="24304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85750" indent="-285750">
              <a:lnSpc>
                <a:spcPct val="150000"/>
              </a:lnSpc>
              <a:buSzPct val="100000"/>
              <a:buFont typeface="Arial"/>
              <a:buChar char="•"/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Source: fundus photographs collected at Spanish ophthalmology centers by the Medical Image Analysis Group (MIAG)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/>
              <a:buChar char="•"/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RIM-ONE r12 merges Release 1 + Release 2 into a single combined dataset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/>
              <a:buChar char="•"/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Total: 505 images → 255 healthy, 250 glaucomatous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/>
              <a:buChar char="•"/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Format: 24-bit JPEG images, at various spatial resolutions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/>
              <a:buChar char="•"/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Pre-partitioned folders were combined into one unified dataset of 505 images</a:t>
            </a:r>
          </a:p>
        </p:txBody>
      </p:sp>
      <p:sp>
        <p:nvSpPr>
          <p:cNvPr id="79" name="Text 4"/>
          <p:cNvSpPr txBox="1"/>
          <p:nvPr/>
        </p:nvSpPr>
        <p:spPr>
          <a:xfrm>
            <a:off x="45717" y="6564628"/>
            <a:ext cx="12100261" cy="23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100" spc="200">
                <a:solidFill>
                  <a:srgbClr val="6C928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VIT BHOPAL UNIVERSITY, INDIA</a:t>
            </a:r>
          </a:p>
        </p:txBody>
      </p:sp>
      <p:pic>
        <p:nvPicPr>
          <p:cNvPr id="80" name="Screenshot 2026-07-16 at 7.00.22 PM.png" descr="Screenshot 2026-07-16 at 7.00.22 PM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3285586" y="5182797"/>
            <a:ext cx="5620828" cy="970262"/>
          </a:xfrm>
          <a:prstGeom prst="rect">
            <a:avLst/>
          </a:prstGeom>
          <a:ln w="12700">
            <a:miter lim="400000"/>
          </a:ln>
        </p:spPr>
      </p:pic>
      <p:sp>
        <p:nvSpPr>
          <p:cNvPr id="81" name="Table 1 :  Class Distribution in RIM-ONE R12 Database"/>
          <p:cNvSpPr txBox="1"/>
          <p:nvPr/>
        </p:nvSpPr>
        <p:spPr>
          <a:xfrm>
            <a:off x="3314638" y="4729481"/>
            <a:ext cx="5562724" cy="360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defTabSz="457200"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Table 1 :  Class Distribution in RIM-ONE R12 Database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 1"/>
          <p:cNvSpPr txBox="1"/>
          <p:nvPr/>
        </p:nvSpPr>
        <p:spPr>
          <a:xfrm>
            <a:off x="4602637" y="809764"/>
            <a:ext cx="2514141" cy="531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3100" b="1">
                <a:solidFill>
                  <a:srgbClr val="365B6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Preprocessing</a:t>
            </a:r>
          </a:p>
        </p:txBody>
      </p:sp>
      <p:sp>
        <p:nvSpPr>
          <p:cNvPr id="84" name="Shape 2"/>
          <p:cNvSpPr/>
          <p:nvPr/>
        </p:nvSpPr>
        <p:spPr>
          <a:xfrm>
            <a:off x="548640" y="1417319"/>
            <a:ext cx="11091672" cy="4937763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85" name="Freeform 5"/>
          <p:cNvSpPr/>
          <p:nvPr/>
        </p:nvSpPr>
        <p:spPr>
          <a:xfrm>
            <a:off x="8807604" y="90301"/>
            <a:ext cx="3102232" cy="12513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17" y="0"/>
                </a:moveTo>
                <a:lnTo>
                  <a:pt x="20283" y="0"/>
                </a:lnTo>
                <a:cubicBezTo>
                  <a:pt x="21010" y="0"/>
                  <a:pt x="21600" y="1249"/>
                  <a:pt x="21600" y="2789"/>
                </a:cubicBezTo>
                <a:lnTo>
                  <a:pt x="21600" y="18811"/>
                </a:lnTo>
                <a:cubicBezTo>
                  <a:pt x="21600" y="19551"/>
                  <a:pt x="21461" y="20260"/>
                  <a:pt x="21214" y="20783"/>
                </a:cubicBezTo>
                <a:cubicBezTo>
                  <a:pt x="20967" y="21306"/>
                  <a:pt x="20632" y="21600"/>
                  <a:pt x="20283" y="21600"/>
                </a:cubicBezTo>
                <a:lnTo>
                  <a:pt x="1317" y="21600"/>
                </a:lnTo>
                <a:cubicBezTo>
                  <a:pt x="968" y="21600"/>
                  <a:pt x="633" y="21306"/>
                  <a:pt x="386" y="20783"/>
                </a:cubicBezTo>
                <a:cubicBezTo>
                  <a:pt x="139" y="20260"/>
                  <a:pt x="0" y="19551"/>
                  <a:pt x="0" y="18811"/>
                </a:cubicBezTo>
                <a:lnTo>
                  <a:pt x="0" y="2789"/>
                </a:lnTo>
                <a:cubicBezTo>
                  <a:pt x="0" y="2049"/>
                  <a:pt x="139" y="1340"/>
                  <a:pt x="386" y="817"/>
                </a:cubicBezTo>
                <a:cubicBezTo>
                  <a:pt x="633" y="294"/>
                  <a:pt x="968" y="0"/>
                  <a:pt x="1317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86" name="Freeform 3"/>
          <p:cNvSpPr/>
          <p:nvPr/>
        </p:nvSpPr>
        <p:spPr>
          <a:xfrm>
            <a:off x="36878" y="2525"/>
            <a:ext cx="3102233" cy="14269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17" y="0"/>
                </a:moveTo>
                <a:lnTo>
                  <a:pt x="20283" y="0"/>
                </a:lnTo>
                <a:cubicBezTo>
                  <a:pt x="21010" y="0"/>
                  <a:pt x="21600" y="1249"/>
                  <a:pt x="21600" y="2789"/>
                </a:cubicBezTo>
                <a:lnTo>
                  <a:pt x="21600" y="18811"/>
                </a:lnTo>
                <a:cubicBezTo>
                  <a:pt x="21600" y="19551"/>
                  <a:pt x="21461" y="20260"/>
                  <a:pt x="21214" y="20783"/>
                </a:cubicBezTo>
                <a:cubicBezTo>
                  <a:pt x="20967" y="21306"/>
                  <a:pt x="20632" y="21600"/>
                  <a:pt x="20283" y="21600"/>
                </a:cubicBezTo>
                <a:lnTo>
                  <a:pt x="1317" y="21600"/>
                </a:lnTo>
                <a:cubicBezTo>
                  <a:pt x="968" y="21600"/>
                  <a:pt x="633" y="21306"/>
                  <a:pt x="386" y="20783"/>
                </a:cubicBezTo>
                <a:cubicBezTo>
                  <a:pt x="139" y="20260"/>
                  <a:pt x="0" y="19551"/>
                  <a:pt x="0" y="18811"/>
                </a:cubicBezTo>
                <a:lnTo>
                  <a:pt x="0" y="2789"/>
                </a:lnTo>
                <a:cubicBezTo>
                  <a:pt x="0" y="2049"/>
                  <a:pt x="139" y="1340"/>
                  <a:pt x="386" y="817"/>
                </a:cubicBezTo>
                <a:cubicBezTo>
                  <a:pt x="633" y="294"/>
                  <a:pt x="968" y="0"/>
                  <a:pt x="1317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87" name="Text 0"/>
          <p:cNvSpPr txBox="1"/>
          <p:nvPr/>
        </p:nvSpPr>
        <p:spPr>
          <a:xfrm>
            <a:off x="-190420" y="102723"/>
            <a:ext cx="12100256" cy="849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5400" b="1">
                <a:solidFill>
                  <a:srgbClr val="289DD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IECS 2026</a:t>
            </a:r>
          </a:p>
        </p:txBody>
      </p:sp>
      <p:sp>
        <p:nvSpPr>
          <p:cNvPr id="88" name="Freeform 7"/>
          <p:cNvSpPr/>
          <p:nvPr/>
        </p:nvSpPr>
        <p:spPr>
          <a:xfrm>
            <a:off x="36536" y="5331364"/>
            <a:ext cx="1418390" cy="1426929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89" name="Resize all images to 224×224 pixels (uniform size, independent of original camera)…"/>
          <p:cNvSpPr txBox="1"/>
          <p:nvPr/>
        </p:nvSpPr>
        <p:spPr>
          <a:xfrm>
            <a:off x="1127075" y="1877333"/>
            <a:ext cx="9465265" cy="31033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marL="285750" indent="-285750">
              <a:lnSpc>
                <a:spcPct val="200000"/>
              </a:lnSpc>
              <a:buSzPct val="100000"/>
              <a:buFont typeface="Arial"/>
              <a:buChar char="•"/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Resize all images to 224×224 pixels (uniform size, independent of original camera)</a:t>
            </a:r>
          </a:p>
          <a:p>
            <a:pPr marL="285750" indent="-285750">
              <a:lnSpc>
                <a:spcPct val="200000"/>
              </a:lnSpc>
              <a:buSzPct val="100000"/>
              <a:buFont typeface="Arial"/>
              <a:buChar char="•"/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Extract green channel only — best contrast between vessels/nerve fiber layer and background</a:t>
            </a:r>
          </a:p>
          <a:p>
            <a:pPr marL="285750" indent="-285750">
              <a:lnSpc>
                <a:spcPct val="200000"/>
              </a:lnSpc>
              <a:buSzPct val="100000"/>
              <a:buFont typeface="Arial"/>
              <a:buChar char="•"/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Apply fast non-local means denoising (h=10) to remove sensor noise</a:t>
            </a:r>
          </a:p>
          <a:p>
            <a:pPr marL="285750" indent="-285750">
              <a:lnSpc>
                <a:spcPct val="200000"/>
              </a:lnSpc>
              <a:buSzPct val="100000"/>
              <a:buFont typeface="Arial"/>
              <a:buChar char="•"/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Apply CLAHE (clip limit 4.0, 8×8 tile grid) to enhance nerve fiber and peripapillary visibility</a:t>
            </a:r>
          </a:p>
          <a:p>
            <a:pPr marL="285750" indent="-285750">
              <a:lnSpc>
                <a:spcPct val="200000"/>
              </a:lnSpc>
              <a:buSzPct val="100000"/>
              <a:buFont typeface="Arial"/>
              <a:buChar char="•"/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Apply unsharp masking to sharpen optic disc edges</a:t>
            </a:r>
          </a:p>
          <a:p>
            <a:pPr marL="285750" indent="-285750">
              <a:lnSpc>
                <a:spcPct val="200000"/>
              </a:lnSpc>
              <a:buSzPct val="100000"/>
              <a:buFont typeface="Arial"/>
              <a:buChar char="•"/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Output: single-channel enhanced image ready for decomposition</a:t>
            </a:r>
          </a:p>
        </p:txBody>
      </p:sp>
      <p:sp>
        <p:nvSpPr>
          <p:cNvPr id="90" name="Text 4"/>
          <p:cNvSpPr txBox="1"/>
          <p:nvPr/>
        </p:nvSpPr>
        <p:spPr>
          <a:xfrm>
            <a:off x="45717" y="6564628"/>
            <a:ext cx="12100261" cy="23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100" spc="200">
                <a:solidFill>
                  <a:srgbClr val="6C928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VIT BHOPAL UNIVERSITY, INDIA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2"/>
          <p:cNvSpPr/>
          <p:nvPr/>
        </p:nvSpPr>
        <p:spPr>
          <a:xfrm>
            <a:off x="548640" y="1771216"/>
            <a:ext cx="11091672" cy="4583866"/>
          </a:xfrm>
          <a:prstGeom prst="roundRect">
            <a:avLst>
              <a:gd name="adj" fmla="val 1995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03" name="Freeform 5"/>
          <p:cNvSpPr/>
          <p:nvPr/>
        </p:nvSpPr>
        <p:spPr>
          <a:xfrm>
            <a:off x="8807604" y="90301"/>
            <a:ext cx="3102232" cy="12513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17" y="0"/>
                </a:moveTo>
                <a:lnTo>
                  <a:pt x="20283" y="0"/>
                </a:lnTo>
                <a:cubicBezTo>
                  <a:pt x="21010" y="0"/>
                  <a:pt x="21600" y="1249"/>
                  <a:pt x="21600" y="2789"/>
                </a:cubicBezTo>
                <a:lnTo>
                  <a:pt x="21600" y="18811"/>
                </a:lnTo>
                <a:cubicBezTo>
                  <a:pt x="21600" y="19551"/>
                  <a:pt x="21461" y="20260"/>
                  <a:pt x="21214" y="20783"/>
                </a:cubicBezTo>
                <a:cubicBezTo>
                  <a:pt x="20967" y="21306"/>
                  <a:pt x="20632" y="21600"/>
                  <a:pt x="20283" y="21600"/>
                </a:cubicBezTo>
                <a:lnTo>
                  <a:pt x="1317" y="21600"/>
                </a:lnTo>
                <a:cubicBezTo>
                  <a:pt x="968" y="21600"/>
                  <a:pt x="633" y="21306"/>
                  <a:pt x="386" y="20783"/>
                </a:cubicBezTo>
                <a:cubicBezTo>
                  <a:pt x="139" y="20260"/>
                  <a:pt x="0" y="19551"/>
                  <a:pt x="0" y="18811"/>
                </a:cubicBezTo>
                <a:lnTo>
                  <a:pt x="0" y="2789"/>
                </a:lnTo>
                <a:cubicBezTo>
                  <a:pt x="0" y="2049"/>
                  <a:pt x="139" y="1340"/>
                  <a:pt x="386" y="817"/>
                </a:cubicBezTo>
                <a:cubicBezTo>
                  <a:pt x="633" y="294"/>
                  <a:pt x="968" y="0"/>
                  <a:pt x="1317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04" name="Freeform 3"/>
          <p:cNvSpPr/>
          <p:nvPr/>
        </p:nvSpPr>
        <p:spPr>
          <a:xfrm>
            <a:off x="36878" y="2525"/>
            <a:ext cx="3102233" cy="14269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17" y="0"/>
                </a:moveTo>
                <a:lnTo>
                  <a:pt x="20283" y="0"/>
                </a:lnTo>
                <a:cubicBezTo>
                  <a:pt x="21010" y="0"/>
                  <a:pt x="21600" y="1249"/>
                  <a:pt x="21600" y="2789"/>
                </a:cubicBezTo>
                <a:lnTo>
                  <a:pt x="21600" y="18811"/>
                </a:lnTo>
                <a:cubicBezTo>
                  <a:pt x="21600" y="19551"/>
                  <a:pt x="21461" y="20260"/>
                  <a:pt x="21214" y="20783"/>
                </a:cubicBezTo>
                <a:cubicBezTo>
                  <a:pt x="20967" y="21306"/>
                  <a:pt x="20632" y="21600"/>
                  <a:pt x="20283" y="21600"/>
                </a:cubicBezTo>
                <a:lnTo>
                  <a:pt x="1317" y="21600"/>
                </a:lnTo>
                <a:cubicBezTo>
                  <a:pt x="968" y="21600"/>
                  <a:pt x="633" y="21306"/>
                  <a:pt x="386" y="20783"/>
                </a:cubicBezTo>
                <a:cubicBezTo>
                  <a:pt x="139" y="20260"/>
                  <a:pt x="0" y="19551"/>
                  <a:pt x="0" y="18811"/>
                </a:cubicBezTo>
                <a:lnTo>
                  <a:pt x="0" y="2789"/>
                </a:lnTo>
                <a:cubicBezTo>
                  <a:pt x="0" y="2049"/>
                  <a:pt x="139" y="1340"/>
                  <a:pt x="386" y="817"/>
                </a:cubicBezTo>
                <a:cubicBezTo>
                  <a:pt x="633" y="294"/>
                  <a:pt x="968" y="0"/>
                  <a:pt x="1317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05" name="Text 0"/>
          <p:cNvSpPr txBox="1"/>
          <p:nvPr/>
        </p:nvSpPr>
        <p:spPr>
          <a:xfrm>
            <a:off x="-190420" y="102723"/>
            <a:ext cx="12100256" cy="849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5400" b="1">
                <a:solidFill>
                  <a:srgbClr val="289DD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IECS 2026</a:t>
            </a:r>
          </a:p>
        </p:txBody>
      </p:sp>
      <p:sp>
        <p:nvSpPr>
          <p:cNvPr id="106" name="Freeform 7"/>
          <p:cNvSpPr/>
          <p:nvPr/>
        </p:nvSpPr>
        <p:spPr>
          <a:xfrm>
            <a:off x="36536" y="5331364"/>
            <a:ext cx="1418390" cy="1426929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07" name="Extends 1D Empirical Mode Decomposition to 2D using Hilbert-Huang transform…"/>
          <p:cNvSpPr txBox="1"/>
          <p:nvPr/>
        </p:nvSpPr>
        <p:spPr>
          <a:xfrm>
            <a:off x="785482" y="2112147"/>
            <a:ext cx="10621035" cy="25365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85750" indent="-285750" algn="just">
              <a:lnSpc>
                <a:spcPct val="150000"/>
              </a:lnSpc>
              <a:buSzPct val="100000"/>
              <a:buFont typeface="Arial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Extends 1D Empirical Mode Decomposition to 2D using Hilbert-Huang transform</a:t>
            </a:r>
            <a:endParaRPr>
              <a:latin typeface="+mn-lt"/>
              <a:ea typeface="+mn-ea"/>
              <a:cs typeface="+mn-cs"/>
              <a:sym typeface="Calibri"/>
            </a:endParaRPr>
          </a:p>
          <a:p>
            <a:pPr marL="285750" indent="-285750" algn="just">
              <a:lnSpc>
                <a:spcPct val="150000"/>
              </a:lnSpc>
              <a:buSzPct val="100000"/>
              <a:buFont typeface="Arial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Decomposes image into Intrinsic Mode Functions (IMFs) + a residue — fully data-adaptive, no fixed basis [5]</a:t>
            </a:r>
            <a:endParaRPr>
              <a:latin typeface="+mn-lt"/>
              <a:ea typeface="+mn-ea"/>
              <a:cs typeface="+mn-cs"/>
              <a:sym typeface="Calibri"/>
            </a:endParaRPr>
          </a:p>
          <a:p>
            <a:pPr marL="285750" indent="-285750" algn="just">
              <a:lnSpc>
                <a:spcPct val="150000"/>
              </a:lnSpc>
              <a:buSzPct val="100000"/>
              <a:buFont typeface="Arial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Each preprocessed image → 3 IMF layers + 1 residue</a:t>
            </a:r>
            <a:endParaRPr>
              <a:latin typeface="+mn-lt"/>
              <a:ea typeface="+mn-ea"/>
              <a:cs typeface="+mn-cs"/>
              <a:sym typeface="Calibri"/>
            </a:endParaRPr>
          </a:p>
          <a:p>
            <a:pPr marL="285750" indent="-285750" algn="just">
              <a:lnSpc>
                <a:spcPct val="150000"/>
              </a:lnSpc>
              <a:buSzPct val="100000"/>
              <a:buFont typeface="Arial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Uses a Gaussian pyramid instead of thin-plate splines for the envelope (computational efficiency)</a:t>
            </a:r>
            <a:endParaRPr>
              <a:latin typeface="+mn-lt"/>
              <a:ea typeface="+mn-ea"/>
              <a:cs typeface="+mn-cs"/>
              <a:sym typeface="Calibri"/>
            </a:endParaRPr>
          </a:p>
          <a:p>
            <a:pPr marL="285750" indent="-285750" algn="just">
              <a:lnSpc>
                <a:spcPct val="150000"/>
              </a:lnSpc>
              <a:buSzPct val="100000"/>
              <a:buFont typeface="Arial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Captures progressively lower spatial frequencies per IMF; residue keeps overall illumination</a:t>
            </a:r>
          </a:p>
        </p:txBody>
      </p:sp>
      <p:sp>
        <p:nvSpPr>
          <p:cNvPr id="108" name="Text 4"/>
          <p:cNvSpPr txBox="1"/>
          <p:nvPr/>
        </p:nvSpPr>
        <p:spPr>
          <a:xfrm>
            <a:off x="45717" y="6564628"/>
            <a:ext cx="12100261" cy="23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100" spc="200">
                <a:solidFill>
                  <a:srgbClr val="6C928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VIT BHOPAL UNIVERSITY, INDIA</a:t>
            </a:r>
          </a:p>
        </p:txBody>
      </p:sp>
      <p:pic>
        <p:nvPicPr>
          <p:cNvPr id="109" name="Picture 1" descr="Picture 1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3959615" y="4818555"/>
            <a:ext cx="3800186" cy="1554623"/>
          </a:xfrm>
          <a:prstGeom prst="rect">
            <a:avLst/>
          </a:prstGeom>
          <a:ln w="12700">
            <a:miter lim="400000"/>
          </a:ln>
        </p:spPr>
      </p:pic>
      <p:sp>
        <p:nvSpPr>
          <p:cNvPr id="101" name="Text 1"/>
          <p:cNvSpPr txBox="1"/>
          <p:nvPr/>
        </p:nvSpPr>
        <p:spPr>
          <a:xfrm>
            <a:off x="2088042" y="1327079"/>
            <a:ext cx="8012867" cy="531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3100" b="1">
                <a:solidFill>
                  <a:srgbClr val="365B6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dirty="0"/>
              <a:t>Image Empirical Mode Decomposition (IEMD) 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 1"/>
          <p:cNvSpPr txBox="1"/>
          <p:nvPr/>
        </p:nvSpPr>
        <p:spPr>
          <a:xfrm>
            <a:off x="3255603" y="879833"/>
            <a:ext cx="5680793" cy="531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3100" b="1">
                <a:solidFill>
                  <a:srgbClr val="365B6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Multi-Source Feature Extraction</a:t>
            </a:r>
          </a:p>
        </p:txBody>
      </p:sp>
      <p:sp>
        <p:nvSpPr>
          <p:cNvPr id="93" name="Shape 2"/>
          <p:cNvSpPr/>
          <p:nvPr/>
        </p:nvSpPr>
        <p:spPr>
          <a:xfrm>
            <a:off x="548640" y="1417319"/>
            <a:ext cx="11091672" cy="4937763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94" name="Freeform 5"/>
          <p:cNvSpPr/>
          <p:nvPr/>
        </p:nvSpPr>
        <p:spPr>
          <a:xfrm>
            <a:off x="8807604" y="90301"/>
            <a:ext cx="3102232" cy="12513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17" y="0"/>
                </a:moveTo>
                <a:lnTo>
                  <a:pt x="20283" y="0"/>
                </a:lnTo>
                <a:cubicBezTo>
                  <a:pt x="21010" y="0"/>
                  <a:pt x="21600" y="1249"/>
                  <a:pt x="21600" y="2789"/>
                </a:cubicBezTo>
                <a:lnTo>
                  <a:pt x="21600" y="18811"/>
                </a:lnTo>
                <a:cubicBezTo>
                  <a:pt x="21600" y="19551"/>
                  <a:pt x="21461" y="20260"/>
                  <a:pt x="21214" y="20783"/>
                </a:cubicBezTo>
                <a:cubicBezTo>
                  <a:pt x="20967" y="21306"/>
                  <a:pt x="20632" y="21600"/>
                  <a:pt x="20283" y="21600"/>
                </a:cubicBezTo>
                <a:lnTo>
                  <a:pt x="1317" y="21600"/>
                </a:lnTo>
                <a:cubicBezTo>
                  <a:pt x="968" y="21600"/>
                  <a:pt x="633" y="21306"/>
                  <a:pt x="386" y="20783"/>
                </a:cubicBezTo>
                <a:cubicBezTo>
                  <a:pt x="139" y="20260"/>
                  <a:pt x="0" y="19551"/>
                  <a:pt x="0" y="18811"/>
                </a:cubicBezTo>
                <a:lnTo>
                  <a:pt x="0" y="2789"/>
                </a:lnTo>
                <a:cubicBezTo>
                  <a:pt x="0" y="2049"/>
                  <a:pt x="139" y="1340"/>
                  <a:pt x="386" y="817"/>
                </a:cubicBezTo>
                <a:cubicBezTo>
                  <a:pt x="633" y="294"/>
                  <a:pt x="968" y="0"/>
                  <a:pt x="1317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95" name="Freeform 3"/>
          <p:cNvSpPr/>
          <p:nvPr/>
        </p:nvSpPr>
        <p:spPr>
          <a:xfrm>
            <a:off x="36878" y="2525"/>
            <a:ext cx="3102233" cy="14269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17" y="0"/>
                </a:moveTo>
                <a:lnTo>
                  <a:pt x="20283" y="0"/>
                </a:lnTo>
                <a:cubicBezTo>
                  <a:pt x="21010" y="0"/>
                  <a:pt x="21600" y="1249"/>
                  <a:pt x="21600" y="2789"/>
                </a:cubicBezTo>
                <a:lnTo>
                  <a:pt x="21600" y="18811"/>
                </a:lnTo>
                <a:cubicBezTo>
                  <a:pt x="21600" y="19551"/>
                  <a:pt x="21461" y="20260"/>
                  <a:pt x="21214" y="20783"/>
                </a:cubicBezTo>
                <a:cubicBezTo>
                  <a:pt x="20967" y="21306"/>
                  <a:pt x="20632" y="21600"/>
                  <a:pt x="20283" y="21600"/>
                </a:cubicBezTo>
                <a:lnTo>
                  <a:pt x="1317" y="21600"/>
                </a:lnTo>
                <a:cubicBezTo>
                  <a:pt x="968" y="21600"/>
                  <a:pt x="633" y="21306"/>
                  <a:pt x="386" y="20783"/>
                </a:cubicBezTo>
                <a:cubicBezTo>
                  <a:pt x="139" y="20260"/>
                  <a:pt x="0" y="19551"/>
                  <a:pt x="0" y="18811"/>
                </a:cubicBezTo>
                <a:lnTo>
                  <a:pt x="0" y="2789"/>
                </a:lnTo>
                <a:cubicBezTo>
                  <a:pt x="0" y="2049"/>
                  <a:pt x="139" y="1340"/>
                  <a:pt x="386" y="817"/>
                </a:cubicBezTo>
                <a:cubicBezTo>
                  <a:pt x="633" y="294"/>
                  <a:pt x="968" y="0"/>
                  <a:pt x="1317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96" name="Text 0"/>
          <p:cNvSpPr txBox="1"/>
          <p:nvPr/>
        </p:nvSpPr>
        <p:spPr>
          <a:xfrm>
            <a:off x="-190420" y="102723"/>
            <a:ext cx="12100256" cy="849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5400" b="1">
                <a:solidFill>
                  <a:srgbClr val="289DD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IECS 2026</a:t>
            </a:r>
          </a:p>
        </p:txBody>
      </p:sp>
      <p:sp>
        <p:nvSpPr>
          <p:cNvPr id="97" name="Freeform 7"/>
          <p:cNvSpPr/>
          <p:nvPr/>
        </p:nvSpPr>
        <p:spPr>
          <a:xfrm>
            <a:off x="36536" y="5331364"/>
            <a:ext cx="1418390" cy="1426929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98" name="Extracted from 5 sources per image: 3 IEMD sub-bands + full preprocessed image + optic disc crop (80×80)…"/>
          <p:cNvSpPr txBox="1"/>
          <p:nvPr/>
        </p:nvSpPr>
        <p:spPr>
          <a:xfrm>
            <a:off x="785482" y="1779162"/>
            <a:ext cx="10621035" cy="34644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85750" indent="-285750" algn="just">
              <a:lnSpc>
                <a:spcPct val="120000"/>
              </a:lnSpc>
              <a:spcBef>
                <a:spcPts val="600"/>
              </a:spcBef>
              <a:buSzPct val="100000"/>
              <a:buFont typeface="Arial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Extracted from 5 sources per image: 3 IEMD sub-bands + full preprocessed image + optic disc crop (80×80)</a:t>
            </a:r>
          </a:p>
          <a:p>
            <a:pPr marL="285750" indent="-285750" algn="just">
              <a:lnSpc>
                <a:spcPct val="120000"/>
              </a:lnSpc>
              <a:spcBef>
                <a:spcPts val="600"/>
              </a:spcBef>
              <a:buSzPct val="100000"/>
              <a:buFont typeface="Arial"/>
              <a:buChar char="•"/>
              <a:defRPr sz="2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GLCM texture:</a:t>
            </a:r>
            <a:r>
              <a:rPr b="0"/>
              <a:t> 3 distances × 4 directions → mean/SD of energy, contrast, homogeneity, correlation, dissimilarity</a:t>
            </a:r>
          </a:p>
          <a:p>
            <a:pPr marL="285750" indent="-285750" algn="just">
              <a:lnSpc>
                <a:spcPct val="120000"/>
              </a:lnSpc>
              <a:spcBef>
                <a:spcPts val="600"/>
              </a:spcBef>
              <a:buSzPct val="100000"/>
              <a:buFont typeface="Arial"/>
              <a:buChar char="•"/>
              <a:defRPr sz="2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Entropy measures:</a:t>
            </a:r>
            <a:r>
              <a:rPr b="0"/>
              <a:t> Shannon, Renyi, Kapur, Yager — 4 features per source</a:t>
            </a:r>
          </a:p>
          <a:p>
            <a:pPr marL="285750" indent="-285750" algn="just">
              <a:lnSpc>
                <a:spcPct val="120000"/>
              </a:lnSpc>
              <a:spcBef>
                <a:spcPts val="600"/>
              </a:spcBef>
              <a:buSzPct val="100000"/>
              <a:buFont typeface="Arial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Total: 504 features per image </a:t>
            </a:r>
          </a:p>
          <a:p>
            <a:pPr marL="285750" indent="-285750" algn="just">
              <a:lnSpc>
                <a:spcPct val="120000"/>
              </a:lnSpc>
              <a:spcBef>
                <a:spcPts val="600"/>
              </a:spcBef>
              <a:buSzPct val="100000"/>
              <a:buFont typeface="Arial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Some of the research work only Gabor transform descriptors — a single feature family [13]. Our pipeline combines 5 feature families (GLCM, entropy, LBP, HOG, Gabor) across 5 sources — far richer texture/frequency/spatial representation. </a:t>
            </a:r>
          </a:p>
        </p:txBody>
      </p:sp>
      <p:sp>
        <p:nvSpPr>
          <p:cNvPr id="99" name="Text 4"/>
          <p:cNvSpPr txBox="1"/>
          <p:nvPr/>
        </p:nvSpPr>
        <p:spPr>
          <a:xfrm>
            <a:off x="45717" y="6564628"/>
            <a:ext cx="12100261" cy="23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100" spc="200">
                <a:solidFill>
                  <a:srgbClr val="6C928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VIT BHOPAL UNIVERSITY, INDIA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 1"/>
          <p:cNvSpPr txBox="1"/>
          <p:nvPr/>
        </p:nvSpPr>
        <p:spPr>
          <a:xfrm>
            <a:off x="2089566" y="1181573"/>
            <a:ext cx="8012867" cy="531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3100" b="1">
                <a:solidFill>
                  <a:srgbClr val="365B6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Feature Selection &amp; Dimensionality Reduction</a:t>
            </a:r>
          </a:p>
        </p:txBody>
      </p:sp>
      <p:sp>
        <p:nvSpPr>
          <p:cNvPr id="112" name="Shape 2"/>
          <p:cNvSpPr/>
          <p:nvPr/>
        </p:nvSpPr>
        <p:spPr>
          <a:xfrm>
            <a:off x="548640" y="1771215"/>
            <a:ext cx="11091672" cy="4583867"/>
          </a:xfrm>
          <a:prstGeom prst="roundRect">
            <a:avLst>
              <a:gd name="adj" fmla="val 1995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13" name="Freeform 5"/>
          <p:cNvSpPr/>
          <p:nvPr/>
        </p:nvSpPr>
        <p:spPr>
          <a:xfrm>
            <a:off x="8807604" y="90301"/>
            <a:ext cx="3102232" cy="12513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17" y="0"/>
                </a:moveTo>
                <a:lnTo>
                  <a:pt x="20283" y="0"/>
                </a:lnTo>
                <a:cubicBezTo>
                  <a:pt x="21010" y="0"/>
                  <a:pt x="21600" y="1249"/>
                  <a:pt x="21600" y="2789"/>
                </a:cubicBezTo>
                <a:lnTo>
                  <a:pt x="21600" y="18811"/>
                </a:lnTo>
                <a:cubicBezTo>
                  <a:pt x="21600" y="19551"/>
                  <a:pt x="21461" y="20260"/>
                  <a:pt x="21214" y="20783"/>
                </a:cubicBezTo>
                <a:cubicBezTo>
                  <a:pt x="20967" y="21306"/>
                  <a:pt x="20632" y="21600"/>
                  <a:pt x="20283" y="21600"/>
                </a:cubicBezTo>
                <a:lnTo>
                  <a:pt x="1317" y="21600"/>
                </a:lnTo>
                <a:cubicBezTo>
                  <a:pt x="968" y="21600"/>
                  <a:pt x="633" y="21306"/>
                  <a:pt x="386" y="20783"/>
                </a:cubicBezTo>
                <a:cubicBezTo>
                  <a:pt x="139" y="20260"/>
                  <a:pt x="0" y="19551"/>
                  <a:pt x="0" y="18811"/>
                </a:cubicBezTo>
                <a:lnTo>
                  <a:pt x="0" y="2789"/>
                </a:lnTo>
                <a:cubicBezTo>
                  <a:pt x="0" y="2049"/>
                  <a:pt x="139" y="1340"/>
                  <a:pt x="386" y="817"/>
                </a:cubicBezTo>
                <a:cubicBezTo>
                  <a:pt x="633" y="294"/>
                  <a:pt x="968" y="0"/>
                  <a:pt x="1317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14" name="Freeform 3"/>
          <p:cNvSpPr/>
          <p:nvPr/>
        </p:nvSpPr>
        <p:spPr>
          <a:xfrm>
            <a:off x="36878" y="2525"/>
            <a:ext cx="3102233" cy="14269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17" y="0"/>
                </a:moveTo>
                <a:lnTo>
                  <a:pt x="20283" y="0"/>
                </a:lnTo>
                <a:cubicBezTo>
                  <a:pt x="21010" y="0"/>
                  <a:pt x="21600" y="1249"/>
                  <a:pt x="21600" y="2789"/>
                </a:cubicBezTo>
                <a:lnTo>
                  <a:pt x="21600" y="18811"/>
                </a:lnTo>
                <a:cubicBezTo>
                  <a:pt x="21600" y="19551"/>
                  <a:pt x="21461" y="20260"/>
                  <a:pt x="21214" y="20783"/>
                </a:cubicBezTo>
                <a:cubicBezTo>
                  <a:pt x="20967" y="21306"/>
                  <a:pt x="20632" y="21600"/>
                  <a:pt x="20283" y="21600"/>
                </a:cubicBezTo>
                <a:lnTo>
                  <a:pt x="1317" y="21600"/>
                </a:lnTo>
                <a:cubicBezTo>
                  <a:pt x="968" y="21600"/>
                  <a:pt x="633" y="21306"/>
                  <a:pt x="386" y="20783"/>
                </a:cubicBezTo>
                <a:cubicBezTo>
                  <a:pt x="139" y="20260"/>
                  <a:pt x="0" y="19551"/>
                  <a:pt x="0" y="18811"/>
                </a:cubicBezTo>
                <a:lnTo>
                  <a:pt x="0" y="2789"/>
                </a:lnTo>
                <a:cubicBezTo>
                  <a:pt x="0" y="2049"/>
                  <a:pt x="139" y="1340"/>
                  <a:pt x="386" y="817"/>
                </a:cubicBezTo>
                <a:cubicBezTo>
                  <a:pt x="633" y="294"/>
                  <a:pt x="968" y="0"/>
                  <a:pt x="1317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15" name="Text 0"/>
          <p:cNvSpPr txBox="1"/>
          <p:nvPr/>
        </p:nvSpPr>
        <p:spPr>
          <a:xfrm>
            <a:off x="-190420" y="102723"/>
            <a:ext cx="12100256" cy="849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5400" b="1">
                <a:solidFill>
                  <a:srgbClr val="289DD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IECS 2026</a:t>
            </a:r>
          </a:p>
        </p:txBody>
      </p:sp>
      <p:sp>
        <p:nvSpPr>
          <p:cNvPr id="116" name="Freeform 7"/>
          <p:cNvSpPr/>
          <p:nvPr/>
        </p:nvSpPr>
        <p:spPr>
          <a:xfrm>
            <a:off x="36536" y="5331364"/>
            <a:ext cx="1418390" cy="1426929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17" name="All 504 extracted features were normalized using Z-score normalization to achieve zero mean and unit variance.…"/>
          <p:cNvSpPr txBox="1"/>
          <p:nvPr/>
        </p:nvSpPr>
        <p:spPr>
          <a:xfrm>
            <a:off x="785482" y="2123826"/>
            <a:ext cx="10621035" cy="3026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190500" indent="-190500" defTabSz="457200">
              <a:lnSpc>
                <a:spcPct val="120000"/>
              </a:lnSpc>
              <a:buSzPct val="100000"/>
              <a:buChar char="•"/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All 504 extracted features were normalized using Z-score normalization to achieve zero mean and unit variance.</a:t>
            </a:r>
          </a:p>
          <a:p>
            <a:pPr marL="190500" indent="-190500" defTabSz="457200">
              <a:lnSpc>
                <a:spcPct val="120000"/>
              </a:lnSpc>
              <a:buSzPct val="100000"/>
              <a:buChar char="•"/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One-way ANOVA F-statistic was computed for each feature to measure its importance.</a:t>
            </a:r>
          </a:p>
          <a:p>
            <a:pPr marL="190500" indent="-190500" defTabSz="457200">
              <a:lnSpc>
                <a:spcPct val="120000"/>
              </a:lnSpc>
              <a:buSzPct val="100000"/>
              <a:buChar char="•"/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Top 100 most discriminative features were selected, while low-variance and class-insensitive features were removed.</a:t>
            </a:r>
          </a:p>
          <a:p>
            <a:pPr marL="190500" indent="-190500" defTabSz="457200">
              <a:lnSpc>
                <a:spcPct val="120000"/>
              </a:lnSpc>
              <a:buSzPct val="100000"/>
              <a:buChar char="•"/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Principal Component Analysis (PCA) was applied to the selected features. [5]</a:t>
            </a:r>
          </a:p>
          <a:p>
            <a:pPr marL="190500" indent="-190500" defTabSz="457200">
              <a:lnSpc>
                <a:spcPct val="120000"/>
              </a:lnSpc>
              <a:buSzPct val="100000"/>
              <a:buChar char="•"/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PCA reduced the feature space from 100 features to 40 principal components.</a:t>
            </a:r>
          </a:p>
          <a:p>
            <a:pPr marL="190500" indent="-190500" defTabSz="457200">
              <a:lnSpc>
                <a:spcPct val="120000"/>
              </a:lnSpc>
              <a:buSzPct val="100000"/>
              <a:buChar char="•"/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The 40 principal components retained more than 90% of the total variance, reducing feature dimensionality before classification.</a:t>
            </a:r>
          </a:p>
        </p:txBody>
      </p:sp>
      <p:sp>
        <p:nvSpPr>
          <p:cNvPr id="118" name="Text 4"/>
          <p:cNvSpPr txBox="1"/>
          <p:nvPr/>
        </p:nvSpPr>
        <p:spPr>
          <a:xfrm>
            <a:off x="45717" y="6564628"/>
            <a:ext cx="12100261" cy="23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100" spc="200">
                <a:solidFill>
                  <a:srgbClr val="6C928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VIT BHOPAL UNIVERSITY, INDIA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1"/>
          <p:cNvSpPr txBox="1"/>
          <p:nvPr/>
        </p:nvSpPr>
        <p:spPr>
          <a:xfrm>
            <a:off x="4016212" y="1024534"/>
            <a:ext cx="4159576" cy="531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3100" b="1">
                <a:solidFill>
                  <a:srgbClr val="365B6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Ensemble Classification  </a:t>
            </a:r>
          </a:p>
        </p:txBody>
      </p:sp>
      <p:sp>
        <p:nvSpPr>
          <p:cNvPr id="121" name="Shape 2"/>
          <p:cNvSpPr/>
          <p:nvPr/>
        </p:nvSpPr>
        <p:spPr>
          <a:xfrm>
            <a:off x="548640" y="1628554"/>
            <a:ext cx="11091672" cy="4726528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22" name="Freeform 5"/>
          <p:cNvSpPr/>
          <p:nvPr/>
        </p:nvSpPr>
        <p:spPr>
          <a:xfrm>
            <a:off x="8807604" y="90301"/>
            <a:ext cx="3102232" cy="12513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17" y="0"/>
                </a:moveTo>
                <a:lnTo>
                  <a:pt x="20283" y="0"/>
                </a:lnTo>
                <a:cubicBezTo>
                  <a:pt x="21010" y="0"/>
                  <a:pt x="21600" y="1249"/>
                  <a:pt x="21600" y="2789"/>
                </a:cubicBezTo>
                <a:lnTo>
                  <a:pt x="21600" y="18811"/>
                </a:lnTo>
                <a:cubicBezTo>
                  <a:pt x="21600" y="19551"/>
                  <a:pt x="21461" y="20260"/>
                  <a:pt x="21214" y="20783"/>
                </a:cubicBezTo>
                <a:cubicBezTo>
                  <a:pt x="20967" y="21306"/>
                  <a:pt x="20632" y="21600"/>
                  <a:pt x="20283" y="21600"/>
                </a:cubicBezTo>
                <a:lnTo>
                  <a:pt x="1317" y="21600"/>
                </a:lnTo>
                <a:cubicBezTo>
                  <a:pt x="968" y="21600"/>
                  <a:pt x="633" y="21306"/>
                  <a:pt x="386" y="20783"/>
                </a:cubicBezTo>
                <a:cubicBezTo>
                  <a:pt x="139" y="20260"/>
                  <a:pt x="0" y="19551"/>
                  <a:pt x="0" y="18811"/>
                </a:cubicBezTo>
                <a:lnTo>
                  <a:pt x="0" y="2789"/>
                </a:lnTo>
                <a:cubicBezTo>
                  <a:pt x="0" y="2049"/>
                  <a:pt x="139" y="1340"/>
                  <a:pt x="386" y="817"/>
                </a:cubicBezTo>
                <a:cubicBezTo>
                  <a:pt x="633" y="294"/>
                  <a:pt x="968" y="0"/>
                  <a:pt x="1317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23" name="Freeform 3"/>
          <p:cNvSpPr/>
          <p:nvPr/>
        </p:nvSpPr>
        <p:spPr>
          <a:xfrm>
            <a:off x="36878" y="2525"/>
            <a:ext cx="3102233" cy="14269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17" y="0"/>
                </a:moveTo>
                <a:lnTo>
                  <a:pt x="20283" y="0"/>
                </a:lnTo>
                <a:cubicBezTo>
                  <a:pt x="21010" y="0"/>
                  <a:pt x="21600" y="1249"/>
                  <a:pt x="21600" y="2789"/>
                </a:cubicBezTo>
                <a:lnTo>
                  <a:pt x="21600" y="18811"/>
                </a:lnTo>
                <a:cubicBezTo>
                  <a:pt x="21600" y="19551"/>
                  <a:pt x="21461" y="20260"/>
                  <a:pt x="21214" y="20783"/>
                </a:cubicBezTo>
                <a:cubicBezTo>
                  <a:pt x="20967" y="21306"/>
                  <a:pt x="20632" y="21600"/>
                  <a:pt x="20283" y="21600"/>
                </a:cubicBezTo>
                <a:lnTo>
                  <a:pt x="1317" y="21600"/>
                </a:lnTo>
                <a:cubicBezTo>
                  <a:pt x="968" y="21600"/>
                  <a:pt x="633" y="21306"/>
                  <a:pt x="386" y="20783"/>
                </a:cubicBezTo>
                <a:cubicBezTo>
                  <a:pt x="139" y="20260"/>
                  <a:pt x="0" y="19551"/>
                  <a:pt x="0" y="18811"/>
                </a:cubicBezTo>
                <a:lnTo>
                  <a:pt x="0" y="2789"/>
                </a:lnTo>
                <a:cubicBezTo>
                  <a:pt x="0" y="2049"/>
                  <a:pt x="139" y="1340"/>
                  <a:pt x="386" y="817"/>
                </a:cubicBezTo>
                <a:cubicBezTo>
                  <a:pt x="633" y="294"/>
                  <a:pt x="968" y="0"/>
                  <a:pt x="1317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24" name="Text 0"/>
          <p:cNvSpPr txBox="1"/>
          <p:nvPr/>
        </p:nvSpPr>
        <p:spPr>
          <a:xfrm>
            <a:off x="-321048" y="102723"/>
            <a:ext cx="12100256" cy="849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5400" b="1">
                <a:solidFill>
                  <a:srgbClr val="289DD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IECS 2026</a:t>
            </a:r>
          </a:p>
        </p:txBody>
      </p:sp>
      <p:sp>
        <p:nvSpPr>
          <p:cNvPr id="125" name="Freeform 7"/>
          <p:cNvSpPr/>
          <p:nvPr/>
        </p:nvSpPr>
        <p:spPr>
          <a:xfrm>
            <a:off x="36536" y="5331364"/>
            <a:ext cx="1418390" cy="1426929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26" name="Three base classifiers trained on the 40-dimensional PCA feature space:…"/>
          <p:cNvSpPr txBox="1"/>
          <p:nvPr/>
        </p:nvSpPr>
        <p:spPr>
          <a:xfrm>
            <a:off x="785482" y="1929103"/>
            <a:ext cx="10621035" cy="34252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just">
              <a:lnSpc>
                <a:spcPct val="150000"/>
              </a:lnSpc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Three base classifiers trained on the 40-dimensional PCA feature space:</a:t>
            </a:r>
          </a:p>
          <a:p>
            <a:pPr marL="285750" indent="-285750" algn="just">
              <a:lnSpc>
                <a:spcPct val="150000"/>
              </a:lnSpc>
              <a:buSzPct val="100000"/>
              <a:buFont typeface="Arial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SVM — RBF kernel, class-balanced weights, grid search over C ∈ {10,50,100,200}, γ ∈ {scale, 0.01, 0.001}</a:t>
            </a:r>
          </a:p>
          <a:p>
            <a:pPr marL="285750" indent="-285750" algn="just">
              <a:lnSpc>
                <a:spcPct val="150000"/>
              </a:lnSpc>
              <a:buSzPct val="100000"/>
              <a:buFont typeface="Arial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Random Forest — 300 trees, max depth 20, min samples split 3, balanced class weighting</a:t>
            </a:r>
          </a:p>
          <a:p>
            <a:pPr marL="285750" indent="-285750" algn="just">
              <a:lnSpc>
                <a:spcPct val="150000"/>
              </a:lnSpc>
              <a:buSzPct val="100000"/>
              <a:buFont typeface="Arial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Gradient Boosting — 150 estimators, learning rate 0.08, max depth 5, subsample ratio 0.8</a:t>
            </a:r>
          </a:p>
          <a:p>
            <a:pPr marL="285750" indent="-285750" algn="just">
              <a:lnSpc>
                <a:spcPct val="150000"/>
              </a:lnSpc>
              <a:buSzPct val="100000"/>
              <a:buFont typeface="Arial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Combined via soft voting — predicted class probabilities averaged across all 3 classifiers before final label assignment</a:t>
            </a:r>
          </a:p>
          <a:p>
            <a:pPr marL="285750" indent="-285750" algn="just">
              <a:lnSpc>
                <a:spcPct val="150000"/>
              </a:lnSpc>
              <a:buSzPct val="100000"/>
              <a:buFont typeface="Arial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Nested (inner) cross-validation used for hyperparameter tuning to prevent data leakage</a:t>
            </a:r>
          </a:p>
        </p:txBody>
      </p:sp>
      <p:sp>
        <p:nvSpPr>
          <p:cNvPr id="127" name="Text 4"/>
          <p:cNvSpPr txBox="1"/>
          <p:nvPr/>
        </p:nvSpPr>
        <p:spPr>
          <a:xfrm>
            <a:off x="45717" y="6564628"/>
            <a:ext cx="12100261" cy="23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100" spc="200">
                <a:solidFill>
                  <a:srgbClr val="6C928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VIT BHOPAL UNIVERSITY, INDIA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 1"/>
          <p:cNvSpPr txBox="1"/>
          <p:nvPr/>
        </p:nvSpPr>
        <p:spPr>
          <a:xfrm>
            <a:off x="4393950" y="1024534"/>
            <a:ext cx="3404100" cy="531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3100" b="1">
                <a:solidFill>
                  <a:srgbClr val="365B6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Evaluation Metrics</a:t>
            </a:r>
          </a:p>
        </p:txBody>
      </p:sp>
      <p:sp>
        <p:nvSpPr>
          <p:cNvPr id="130" name="Shape 2"/>
          <p:cNvSpPr/>
          <p:nvPr/>
        </p:nvSpPr>
        <p:spPr>
          <a:xfrm>
            <a:off x="548640" y="1628554"/>
            <a:ext cx="11091672" cy="4726528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31" name="Freeform 5"/>
          <p:cNvSpPr/>
          <p:nvPr/>
        </p:nvSpPr>
        <p:spPr>
          <a:xfrm>
            <a:off x="8807604" y="90301"/>
            <a:ext cx="3102232" cy="12513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17" y="0"/>
                </a:moveTo>
                <a:lnTo>
                  <a:pt x="20283" y="0"/>
                </a:lnTo>
                <a:cubicBezTo>
                  <a:pt x="21010" y="0"/>
                  <a:pt x="21600" y="1249"/>
                  <a:pt x="21600" y="2789"/>
                </a:cubicBezTo>
                <a:lnTo>
                  <a:pt x="21600" y="18811"/>
                </a:lnTo>
                <a:cubicBezTo>
                  <a:pt x="21600" y="19551"/>
                  <a:pt x="21461" y="20260"/>
                  <a:pt x="21214" y="20783"/>
                </a:cubicBezTo>
                <a:cubicBezTo>
                  <a:pt x="20967" y="21306"/>
                  <a:pt x="20632" y="21600"/>
                  <a:pt x="20283" y="21600"/>
                </a:cubicBezTo>
                <a:lnTo>
                  <a:pt x="1317" y="21600"/>
                </a:lnTo>
                <a:cubicBezTo>
                  <a:pt x="968" y="21600"/>
                  <a:pt x="633" y="21306"/>
                  <a:pt x="386" y="20783"/>
                </a:cubicBezTo>
                <a:cubicBezTo>
                  <a:pt x="139" y="20260"/>
                  <a:pt x="0" y="19551"/>
                  <a:pt x="0" y="18811"/>
                </a:cubicBezTo>
                <a:lnTo>
                  <a:pt x="0" y="2789"/>
                </a:lnTo>
                <a:cubicBezTo>
                  <a:pt x="0" y="2049"/>
                  <a:pt x="139" y="1340"/>
                  <a:pt x="386" y="817"/>
                </a:cubicBezTo>
                <a:cubicBezTo>
                  <a:pt x="633" y="294"/>
                  <a:pt x="968" y="0"/>
                  <a:pt x="1317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32" name="Freeform 3"/>
          <p:cNvSpPr/>
          <p:nvPr/>
        </p:nvSpPr>
        <p:spPr>
          <a:xfrm>
            <a:off x="36878" y="2525"/>
            <a:ext cx="3102233" cy="14269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17" y="0"/>
                </a:moveTo>
                <a:lnTo>
                  <a:pt x="20283" y="0"/>
                </a:lnTo>
                <a:cubicBezTo>
                  <a:pt x="21010" y="0"/>
                  <a:pt x="21600" y="1249"/>
                  <a:pt x="21600" y="2789"/>
                </a:cubicBezTo>
                <a:lnTo>
                  <a:pt x="21600" y="18811"/>
                </a:lnTo>
                <a:cubicBezTo>
                  <a:pt x="21600" y="19551"/>
                  <a:pt x="21461" y="20260"/>
                  <a:pt x="21214" y="20783"/>
                </a:cubicBezTo>
                <a:cubicBezTo>
                  <a:pt x="20967" y="21306"/>
                  <a:pt x="20632" y="21600"/>
                  <a:pt x="20283" y="21600"/>
                </a:cubicBezTo>
                <a:lnTo>
                  <a:pt x="1317" y="21600"/>
                </a:lnTo>
                <a:cubicBezTo>
                  <a:pt x="968" y="21600"/>
                  <a:pt x="633" y="21306"/>
                  <a:pt x="386" y="20783"/>
                </a:cubicBezTo>
                <a:cubicBezTo>
                  <a:pt x="139" y="20260"/>
                  <a:pt x="0" y="19551"/>
                  <a:pt x="0" y="18811"/>
                </a:cubicBezTo>
                <a:lnTo>
                  <a:pt x="0" y="2789"/>
                </a:lnTo>
                <a:cubicBezTo>
                  <a:pt x="0" y="2049"/>
                  <a:pt x="139" y="1340"/>
                  <a:pt x="386" y="817"/>
                </a:cubicBezTo>
                <a:cubicBezTo>
                  <a:pt x="633" y="294"/>
                  <a:pt x="968" y="0"/>
                  <a:pt x="1317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33" name="Text 0"/>
          <p:cNvSpPr txBox="1"/>
          <p:nvPr/>
        </p:nvSpPr>
        <p:spPr>
          <a:xfrm>
            <a:off x="-190420" y="102723"/>
            <a:ext cx="12100256" cy="849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5400" b="1">
                <a:solidFill>
                  <a:srgbClr val="289DD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IECS 2026</a:t>
            </a:r>
          </a:p>
        </p:txBody>
      </p:sp>
      <p:sp>
        <p:nvSpPr>
          <p:cNvPr id="134" name="Freeform 7"/>
          <p:cNvSpPr/>
          <p:nvPr/>
        </p:nvSpPr>
        <p:spPr>
          <a:xfrm>
            <a:off x="36536" y="5331364"/>
            <a:ext cx="1418390" cy="1426929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35" name="Text 4"/>
          <p:cNvSpPr txBox="1"/>
          <p:nvPr/>
        </p:nvSpPr>
        <p:spPr>
          <a:xfrm>
            <a:off x="45717" y="6564628"/>
            <a:ext cx="12100261" cy="23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100" spc="200">
                <a:solidFill>
                  <a:srgbClr val="6C928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VIT BHOPAL UNIVERSITY, INDIA</a:t>
            </a:r>
          </a:p>
        </p:txBody>
      </p:sp>
      <p:sp>
        <p:nvSpPr>
          <p:cNvPr id="136" name="Performance Evaluation…"/>
          <p:cNvSpPr txBox="1"/>
          <p:nvPr/>
        </p:nvSpPr>
        <p:spPr>
          <a:xfrm>
            <a:off x="698828" y="2060677"/>
            <a:ext cx="5763764" cy="14846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defTabSz="457200">
              <a:spcBef>
                <a:spcPts val="1400"/>
              </a:spcBef>
              <a:defRPr sz="19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Performance Evaluation</a:t>
            </a:r>
          </a:p>
          <a:p>
            <a:pPr marL="457200" indent="-317500" defTabSz="457200">
              <a:lnSpc>
                <a:spcPct val="120000"/>
              </a:lnSpc>
              <a:buSzPct val="100000"/>
              <a:buFont typeface="Times Roman"/>
              <a:buChar char="•"/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Model performance was evaluated using Accuracy, Sensitivity, and Specificity under 10-fold stratified cross-validation.</a:t>
            </a:r>
          </a:p>
        </p:txBody>
      </p:sp>
      <p:sp>
        <p:nvSpPr>
          <p:cNvPr id="137" name="Performance Metrics…"/>
          <p:cNvSpPr txBox="1"/>
          <p:nvPr/>
        </p:nvSpPr>
        <p:spPr>
          <a:xfrm>
            <a:off x="698828" y="3755041"/>
            <a:ext cx="5763764" cy="14846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defTabSz="457200">
              <a:spcBef>
                <a:spcPts val="1400"/>
              </a:spcBef>
              <a:defRPr sz="19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Performance Metrics</a:t>
            </a:r>
          </a:p>
          <a:p>
            <a:pPr marL="457200" indent="-317500" defTabSz="457200">
              <a:lnSpc>
                <a:spcPct val="120000"/>
              </a:lnSpc>
              <a:buSzPct val="100000"/>
              <a:buFont typeface="Times Roman"/>
              <a:buChar char="•"/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Accuracy:</a:t>
            </a:r>
            <a:r>
              <a:t> Overall classification performance.</a:t>
            </a:r>
          </a:p>
          <a:p>
            <a:pPr marL="457200" indent="-317500" defTabSz="457200">
              <a:lnSpc>
                <a:spcPct val="120000"/>
              </a:lnSpc>
              <a:buSzPct val="100000"/>
              <a:buFont typeface="Times Roman"/>
              <a:buChar char="•"/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Sensitivity:</a:t>
            </a:r>
            <a:r>
              <a:t> Correct identification of glaucoma cases.</a:t>
            </a:r>
          </a:p>
          <a:p>
            <a:pPr marL="457200" indent="-317500" defTabSz="457200">
              <a:lnSpc>
                <a:spcPct val="120000"/>
              </a:lnSpc>
              <a:buSzPct val="100000"/>
              <a:buFont typeface="Times Roman"/>
              <a:buChar char="•"/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Specificity:</a:t>
            </a:r>
            <a:r>
              <a:t> Correct identification of healthy cases.</a:t>
            </a:r>
          </a:p>
        </p:txBody>
      </p:sp>
      <p:pic>
        <p:nvPicPr>
          <p:cNvPr id="138" name="pasted-movie.png" descr="pasted-movi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502705" y="2242987"/>
            <a:ext cx="5130495" cy="342033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 1"/>
          <p:cNvSpPr txBox="1"/>
          <p:nvPr/>
        </p:nvSpPr>
        <p:spPr>
          <a:xfrm>
            <a:off x="5386804" y="897540"/>
            <a:ext cx="1418391" cy="531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3100" b="1">
                <a:solidFill>
                  <a:srgbClr val="365B6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Results</a:t>
            </a:r>
          </a:p>
        </p:txBody>
      </p:sp>
      <p:sp>
        <p:nvSpPr>
          <p:cNvPr id="141" name="Shape 2"/>
          <p:cNvSpPr/>
          <p:nvPr/>
        </p:nvSpPr>
        <p:spPr>
          <a:xfrm>
            <a:off x="548640" y="1447588"/>
            <a:ext cx="11091672" cy="4907494"/>
          </a:xfrm>
          <a:prstGeom prst="roundRect">
            <a:avLst>
              <a:gd name="adj" fmla="val 1863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2" name="Freeform 5"/>
          <p:cNvSpPr/>
          <p:nvPr/>
        </p:nvSpPr>
        <p:spPr>
          <a:xfrm>
            <a:off x="8807604" y="90301"/>
            <a:ext cx="3102232" cy="12513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17" y="0"/>
                </a:moveTo>
                <a:lnTo>
                  <a:pt x="20283" y="0"/>
                </a:lnTo>
                <a:cubicBezTo>
                  <a:pt x="21010" y="0"/>
                  <a:pt x="21600" y="1249"/>
                  <a:pt x="21600" y="2789"/>
                </a:cubicBezTo>
                <a:lnTo>
                  <a:pt x="21600" y="18811"/>
                </a:lnTo>
                <a:cubicBezTo>
                  <a:pt x="21600" y="19551"/>
                  <a:pt x="21461" y="20260"/>
                  <a:pt x="21214" y="20783"/>
                </a:cubicBezTo>
                <a:cubicBezTo>
                  <a:pt x="20967" y="21306"/>
                  <a:pt x="20632" y="21600"/>
                  <a:pt x="20283" y="21600"/>
                </a:cubicBezTo>
                <a:lnTo>
                  <a:pt x="1317" y="21600"/>
                </a:lnTo>
                <a:cubicBezTo>
                  <a:pt x="968" y="21600"/>
                  <a:pt x="633" y="21306"/>
                  <a:pt x="386" y="20783"/>
                </a:cubicBezTo>
                <a:cubicBezTo>
                  <a:pt x="139" y="20260"/>
                  <a:pt x="0" y="19551"/>
                  <a:pt x="0" y="18811"/>
                </a:cubicBezTo>
                <a:lnTo>
                  <a:pt x="0" y="2789"/>
                </a:lnTo>
                <a:cubicBezTo>
                  <a:pt x="0" y="2049"/>
                  <a:pt x="139" y="1340"/>
                  <a:pt x="386" y="817"/>
                </a:cubicBezTo>
                <a:cubicBezTo>
                  <a:pt x="633" y="294"/>
                  <a:pt x="968" y="0"/>
                  <a:pt x="1317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3" name="Freeform 3"/>
          <p:cNvSpPr/>
          <p:nvPr/>
        </p:nvSpPr>
        <p:spPr>
          <a:xfrm>
            <a:off x="36878" y="2525"/>
            <a:ext cx="3102233" cy="14269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17" y="0"/>
                </a:moveTo>
                <a:lnTo>
                  <a:pt x="20283" y="0"/>
                </a:lnTo>
                <a:cubicBezTo>
                  <a:pt x="21010" y="0"/>
                  <a:pt x="21600" y="1249"/>
                  <a:pt x="21600" y="2789"/>
                </a:cubicBezTo>
                <a:lnTo>
                  <a:pt x="21600" y="18811"/>
                </a:lnTo>
                <a:cubicBezTo>
                  <a:pt x="21600" y="19551"/>
                  <a:pt x="21461" y="20260"/>
                  <a:pt x="21214" y="20783"/>
                </a:cubicBezTo>
                <a:cubicBezTo>
                  <a:pt x="20967" y="21306"/>
                  <a:pt x="20632" y="21600"/>
                  <a:pt x="20283" y="21600"/>
                </a:cubicBezTo>
                <a:lnTo>
                  <a:pt x="1317" y="21600"/>
                </a:lnTo>
                <a:cubicBezTo>
                  <a:pt x="968" y="21600"/>
                  <a:pt x="633" y="21306"/>
                  <a:pt x="386" y="20783"/>
                </a:cubicBezTo>
                <a:cubicBezTo>
                  <a:pt x="139" y="20260"/>
                  <a:pt x="0" y="19551"/>
                  <a:pt x="0" y="18811"/>
                </a:cubicBezTo>
                <a:lnTo>
                  <a:pt x="0" y="2789"/>
                </a:lnTo>
                <a:cubicBezTo>
                  <a:pt x="0" y="2049"/>
                  <a:pt x="139" y="1340"/>
                  <a:pt x="386" y="817"/>
                </a:cubicBezTo>
                <a:cubicBezTo>
                  <a:pt x="633" y="294"/>
                  <a:pt x="968" y="0"/>
                  <a:pt x="1317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4" name="Text 0"/>
          <p:cNvSpPr txBox="1"/>
          <p:nvPr/>
        </p:nvSpPr>
        <p:spPr>
          <a:xfrm>
            <a:off x="-190420" y="102723"/>
            <a:ext cx="12100256" cy="849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5400" b="1">
                <a:solidFill>
                  <a:srgbClr val="289DD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IECS 2026</a:t>
            </a:r>
          </a:p>
        </p:txBody>
      </p:sp>
      <p:sp>
        <p:nvSpPr>
          <p:cNvPr id="145" name="Freeform 7"/>
          <p:cNvSpPr/>
          <p:nvPr/>
        </p:nvSpPr>
        <p:spPr>
          <a:xfrm>
            <a:off x="36536" y="5331364"/>
            <a:ext cx="1418390" cy="1426929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6" name="Text 4"/>
          <p:cNvSpPr txBox="1"/>
          <p:nvPr/>
        </p:nvSpPr>
        <p:spPr>
          <a:xfrm>
            <a:off x="45717" y="6564628"/>
            <a:ext cx="12100261" cy="23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100" spc="200">
                <a:solidFill>
                  <a:srgbClr val="6C928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VIT BHOPAL UNIVERSITY, INDIA</a:t>
            </a:r>
          </a:p>
        </p:txBody>
      </p:sp>
      <p:pic>
        <p:nvPicPr>
          <p:cNvPr id="147" name="Screenshot 2026-07-15 at 10.12.11 PM.png" descr="Screenshot 2026-07-15 at 10.12.11 PM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386512" y="1698437"/>
            <a:ext cx="6163847" cy="3678945"/>
          </a:xfrm>
          <a:prstGeom prst="rect">
            <a:avLst/>
          </a:prstGeom>
          <a:ln w="12700">
            <a:miter lim="400000"/>
          </a:ln>
        </p:spPr>
      </p:pic>
      <p:sp>
        <p:nvSpPr>
          <p:cNvPr id="148" name="Fig. 2 : Performance of the proposed ensemble model across the 10-fold cross validation on the RIM-ONE r12 binary dataset."/>
          <p:cNvSpPr txBox="1"/>
          <p:nvPr/>
        </p:nvSpPr>
        <p:spPr>
          <a:xfrm>
            <a:off x="5801415" y="5328867"/>
            <a:ext cx="5334040" cy="540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 defTabSz="457200"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Fig. 2 : Performance of the proposed ensemble model across the 10-fold cross validation on the RIM-ONE r12 binary dataset.</a:t>
            </a:r>
          </a:p>
        </p:txBody>
      </p:sp>
      <p:pic>
        <p:nvPicPr>
          <p:cNvPr id="149" name="Screenshot 2026-07-16 at 5.22.47 PM.png" descr="Screenshot 2026-07-16 at 5.22.47 PM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134488" y="2200125"/>
            <a:ext cx="3810883" cy="3116805"/>
          </a:xfrm>
          <a:prstGeom prst="rect">
            <a:avLst/>
          </a:prstGeom>
          <a:ln w="12700">
            <a:miter lim="400000"/>
          </a:ln>
        </p:spPr>
      </p:pic>
      <p:sp>
        <p:nvSpPr>
          <p:cNvPr id="150" name="Table 2 : 10-Fold Cross-Validation Results"/>
          <p:cNvSpPr txBox="1"/>
          <p:nvPr/>
        </p:nvSpPr>
        <p:spPr>
          <a:xfrm>
            <a:off x="927261" y="1778343"/>
            <a:ext cx="4225337" cy="3114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 defTabSz="457200"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Table 2 : 10-Fold Cross-Validation Results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 1"/>
          <p:cNvSpPr txBox="1"/>
          <p:nvPr/>
        </p:nvSpPr>
        <p:spPr>
          <a:xfrm>
            <a:off x="4171772" y="897540"/>
            <a:ext cx="3848456" cy="531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3100" b="1">
                <a:solidFill>
                  <a:srgbClr val="365B6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Comparative Analysis</a:t>
            </a:r>
          </a:p>
        </p:txBody>
      </p:sp>
      <p:sp>
        <p:nvSpPr>
          <p:cNvPr id="153" name="Shape 2"/>
          <p:cNvSpPr/>
          <p:nvPr/>
        </p:nvSpPr>
        <p:spPr>
          <a:xfrm>
            <a:off x="548640" y="1447588"/>
            <a:ext cx="11091672" cy="4907494"/>
          </a:xfrm>
          <a:prstGeom prst="roundRect">
            <a:avLst>
              <a:gd name="adj" fmla="val 1863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54" name="Freeform 5"/>
          <p:cNvSpPr/>
          <p:nvPr/>
        </p:nvSpPr>
        <p:spPr>
          <a:xfrm>
            <a:off x="8807604" y="90301"/>
            <a:ext cx="3102232" cy="12513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17" y="0"/>
                </a:moveTo>
                <a:lnTo>
                  <a:pt x="20283" y="0"/>
                </a:lnTo>
                <a:cubicBezTo>
                  <a:pt x="21010" y="0"/>
                  <a:pt x="21600" y="1249"/>
                  <a:pt x="21600" y="2789"/>
                </a:cubicBezTo>
                <a:lnTo>
                  <a:pt x="21600" y="18811"/>
                </a:lnTo>
                <a:cubicBezTo>
                  <a:pt x="21600" y="19551"/>
                  <a:pt x="21461" y="20260"/>
                  <a:pt x="21214" y="20783"/>
                </a:cubicBezTo>
                <a:cubicBezTo>
                  <a:pt x="20967" y="21306"/>
                  <a:pt x="20632" y="21600"/>
                  <a:pt x="20283" y="21600"/>
                </a:cubicBezTo>
                <a:lnTo>
                  <a:pt x="1317" y="21600"/>
                </a:lnTo>
                <a:cubicBezTo>
                  <a:pt x="968" y="21600"/>
                  <a:pt x="633" y="21306"/>
                  <a:pt x="386" y="20783"/>
                </a:cubicBezTo>
                <a:cubicBezTo>
                  <a:pt x="139" y="20260"/>
                  <a:pt x="0" y="19551"/>
                  <a:pt x="0" y="18811"/>
                </a:cubicBezTo>
                <a:lnTo>
                  <a:pt x="0" y="2789"/>
                </a:lnTo>
                <a:cubicBezTo>
                  <a:pt x="0" y="2049"/>
                  <a:pt x="139" y="1340"/>
                  <a:pt x="386" y="817"/>
                </a:cubicBezTo>
                <a:cubicBezTo>
                  <a:pt x="633" y="294"/>
                  <a:pt x="968" y="0"/>
                  <a:pt x="1317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55" name="Freeform 3"/>
          <p:cNvSpPr/>
          <p:nvPr/>
        </p:nvSpPr>
        <p:spPr>
          <a:xfrm>
            <a:off x="36878" y="2525"/>
            <a:ext cx="3102233" cy="14269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17" y="0"/>
                </a:moveTo>
                <a:lnTo>
                  <a:pt x="20283" y="0"/>
                </a:lnTo>
                <a:cubicBezTo>
                  <a:pt x="21010" y="0"/>
                  <a:pt x="21600" y="1249"/>
                  <a:pt x="21600" y="2789"/>
                </a:cubicBezTo>
                <a:lnTo>
                  <a:pt x="21600" y="18811"/>
                </a:lnTo>
                <a:cubicBezTo>
                  <a:pt x="21600" y="19551"/>
                  <a:pt x="21461" y="20260"/>
                  <a:pt x="21214" y="20783"/>
                </a:cubicBezTo>
                <a:cubicBezTo>
                  <a:pt x="20967" y="21306"/>
                  <a:pt x="20632" y="21600"/>
                  <a:pt x="20283" y="21600"/>
                </a:cubicBezTo>
                <a:lnTo>
                  <a:pt x="1317" y="21600"/>
                </a:lnTo>
                <a:cubicBezTo>
                  <a:pt x="968" y="21600"/>
                  <a:pt x="633" y="21306"/>
                  <a:pt x="386" y="20783"/>
                </a:cubicBezTo>
                <a:cubicBezTo>
                  <a:pt x="139" y="20260"/>
                  <a:pt x="0" y="19551"/>
                  <a:pt x="0" y="18811"/>
                </a:cubicBezTo>
                <a:lnTo>
                  <a:pt x="0" y="2789"/>
                </a:lnTo>
                <a:cubicBezTo>
                  <a:pt x="0" y="2049"/>
                  <a:pt x="139" y="1340"/>
                  <a:pt x="386" y="817"/>
                </a:cubicBezTo>
                <a:cubicBezTo>
                  <a:pt x="633" y="294"/>
                  <a:pt x="968" y="0"/>
                  <a:pt x="1317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56" name="Text 0"/>
          <p:cNvSpPr txBox="1"/>
          <p:nvPr/>
        </p:nvSpPr>
        <p:spPr>
          <a:xfrm>
            <a:off x="-190420" y="102723"/>
            <a:ext cx="12100256" cy="849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5400" b="1">
                <a:solidFill>
                  <a:srgbClr val="289DD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IECS 2026</a:t>
            </a:r>
          </a:p>
        </p:txBody>
      </p:sp>
      <p:sp>
        <p:nvSpPr>
          <p:cNvPr id="157" name="Freeform 7"/>
          <p:cNvSpPr/>
          <p:nvPr/>
        </p:nvSpPr>
        <p:spPr>
          <a:xfrm>
            <a:off x="-1564" y="5420264"/>
            <a:ext cx="1418390" cy="1426929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58" name="Text 4"/>
          <p:cNvSpPr txBox="1"/>
          <p:nvPr/>
        </p:nvSpPr>
        <p:spPr>
          <a:xfrm>
            <a:off x="45717" y="6564628"/>
            <a:ext cx="12100261" cy="23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100" spc="200">
                <a:solidFill>
                  <a:srgbClr val="6C928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VIT BHOPAL UNIVERSITY, INDIA</a:t>
            </a:r>
          </a:p>
        </p:txBody>
      </p:sp>
      <p:pic>
        <p:nvPicPr>
          <p:cNvPr id="159" name="pasted-movie.png" descr="pasted-movi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787311" y="1777703"/>
            <a:ext cx="4656759" cy="3648873"/>
          </a:xfrm>
          <a:prstGeom prst="rect">
            <a:avLst/>
          </a:prstGeom>
          <a:ln w="12700">
            <a:miter lim="400000"/>
          </a:ln>
        </p:spPr>
      </p:pic>
      <p:sp>
        <p:nvSpPr>
          <p:cNvPr id="160" name="Fig. 3 : Aggregated confusion matrix obtained from 10-fold stratified cross-validation on the RIM-ONE r12 dataset."/>
          <p:cNvSpPr txBox="1"/>
          <p:nvPr/>
        </p:nvSpPr>
        <p:spPr>
          <a:xfrm>
            <a:off x="6637090" y="5634688"/>
            <a:ext cx="4957200" cy="540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 defTabSz="457200"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Fig. 3 : Aggregated confusion matrix obtained from 10-fold stratified cross-validation on the RIM-ONE r12 dataset.</a:t>
            </a:r>
          </a:p>
        </p:txBody>
      </p:sp>
      <p:sp>
        <p:nvSpPr>
          <p:cNvPr id="161" name="Table 3 : Comparison with State-of-the-Art Methods"/>
          <p:cNvSpPr txBox="1"/>
          <p:nvPr/>
        </p:nvSpPr>
        <p:spPr>
          <a:xfrm>
            <a:off x="654609" y="1686294"/>
            <a:ext cx="4957199" cy="3114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 defTabSz="457200"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Table 3 : Comparison with State-of-the-Art Methods</a:t>
            </a:r>
          </a:p>
        </p:txBody>
      </p:sp>
      <p:sp>
        <p:nvSpPr>
          <p:cNvPr id="162" name="Key Findings…"/>
          <p:cNvSpPr txBox="1"/>
          <p:nvPr/>
        </p:nvSpPr>
        <p:spPr>
          <a:xfrm>
            <a:off x="745923" y="4089835"/>
            <a:ext cx="5963822" cy="1632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defTabSz="457200">
              <a:spcBef>
                <a:spcPts val="1400"/>
              </a:spcBef>
              <a:defRPr sz="16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Key Findings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Proposed ensemble achieved the </a:t>
            </a:r>
            <a:r>
              <a:rPr b="1"/>
              <a:t>highest accuracy (89.43%)</a:t>
            </a:r>
            <a:r>
              <a:t>.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High </a:t>
            </a:r>
            <a:r>
              <a:rPr b="1"/>
              <a:t>specificity (94.85%)</a:t>
            </a:r>
            <a:r>
              <a:t> indicates reliable healthy-eye classification.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Confusion matrix shows effective separation between glaucoma and healthy samples.</a:t>
            </a:r>
          </a:p>
        </p:txBody>
      </p:sp>
      <p:pic>
        <p:nvPicPr>
          <p:cNvPr id="163" name="pasted-movie.png" descr="pasted-movie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04829" y="1978256"/>
            <a:ext cx="4656759" cy="213959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 1"/>
          <p:cNvSpPr txBox="1"/>
          <p:nvPr/>
        </p:nvSpPr>
        <p:spPr>
          <a:xfrm>
            <a:off x="5016835" y="854433"/>
            <a:ext cx="2158329" cy="531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3100" b="1">
                <a:solidFill>
                  <a:srgbClr val="365B6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Conclusion</a:t>
            </a:r>
          </a:p>
        </p:txBody>
      </p:sp>
      <p:sp>
        <p:nvSpPr>
          <p:cNvPr id="166" name="Shape 2"/>
          <p:cNvSpPr/>
          <p:nvPr/>
        </p:nvSpPr>
        <p:spPr>
          <a:xfrm>
            <a:off x="548640" y="1417319"/>
            <a:ext cx="11091672" cy="4937763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67" name="Freeform 5"/>
          <p:cNvSpPr/>
          <p:nvPr/>
        </p:nvSpPr>
        <p:spPr>
          <a:xfrm>
            <a:off x="8807604" y="90301"/>
            <a:ext cx="3102232" cy="12513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17" y="0"/>
                </a:moveTo>
                <a:lnTo>
                  <a:pt x="20283" y="0"/>
                </a:lnTo>
                <a:cubicBezTo>
                  <a:pt x="21010" y="0"/>
                  <a:pt x="21600" y="1249"/>
                  <a:pt x="21600" y="2789"/>
                </a:cubicBezTo>
                <a:lnTo>
                  <a:pt x="21600" y="18811"/>
                </a:lnTo>
                <a:cubicBezTo>
                  <a:pt x="21600" y="19551"/>
                  <a:pt x="21461" y="20260"/>
                  <a:pt x="21214" y="20783"/>
                </a:cubicBezTo>
                <a:cubicBezTo>
                  <a:pt x="20967" y="21306"/>
                  <a:pt x="20632" y="21600"/>
                  <a:pt x="20283" y="21600"/>
                </a:cubicBezTo>
                <a:lnTo>
                  <a:pt x="1317" y="21600"/>
                </a:lnTo>
                <a:cubicBezTo>
                  <a:pt x="968" y="21600"/>
                  <a:pt x="633" y="21306"/>
                  <a:pt x="386" y="20783"/>
                </a:cubicBezTo>
                <a:cubicBezTo>
                  <a:pt x="139" y="20260"/>
                  <a:pt x="0" y="19551"/>
                  <a:pt x="0" y="18811"/>
                </a:cubicBezTo>
                <a:lnTo>
                  <a:pt x="0" y="2789"/>
                </a:lnTo>
                <a:cubicBezTo>
                  <a:pt x="0" y="2049"/>
                  <a:pt x="139" y="1340"/>
                  <a:pt x="386" y="817"/>
                </a:cubicBezTo>
                <a:cubicBezTo>
                  <a:pt x="633" y="294"/>
                  <a:pt x="968" y="0"/>
                  <a:pt x="1317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68" name="Freeform 3"/>
          <p:cNvSpPr/>
          <p:nvPr/>
        </p:nvSpPr>
        <p:spPr>
          <a:xfrm>
            <a:off x="36878" y="2525"/>
            <a:ext cx="3102233" cy="14269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17" y="0"/>
                </a:moveTo>
                <a:lnTo>
                  <a:pt x="20283" y="0"/>
                </a:lnTo>
                <a:cubicBezTo>
                  <a:pt x="21010" y="0"/>
                  <a:pt x="21600" y="1249"/>
                  <a:pt x="21600" y="2789"/>
                </a:cubicBezTo>
                <a:lnTo>
                  <a:pt x="21600" y="18811"/>
                </a:lnTo>
                <a:cubicBezTo>
                  <a:pt x="21600" y="19551"/>
                  <a:pt x="21461" y="20260"/>
                  <a:pt x="21214" y="20783"/>
                </a:cubicBezTo>
                <a:cubicBezTo>
                  <a:pt x="20967" y="21306"/>
                  <a:pt x="20632" y="21600"/>
                  <a:pt x="20283" y="21600"/>
                </a:cubicBezTo>
                <a:lnTo>
                  <a:pt x="1317" y="21600"/>
                </a:lnTo>
                <a:cubicBezTo>
                  <a:pt x="968" y="21600"/>
                  <a:pt x="633" y="21306"/>
                  <a:pt x="386" y="20783"/>
                </a:cubicBezTo>
                <a:cubicBezTo>
                  <a:pt x="139" y="20260"/>
                  <a:pt x="0" y="19551"/>
                  <a:pt x="0" y="18811"/>
                </a:cubicBezTo>
                <a:lnTo>
                  <a:pt x="0" y="2789"/>
                </a:lnTo>
                <a:cubicBezTo>
                  <a:pt x="0" y="2049"/>
                  <a:pt x="139" y="1340"/>
                  <a:pt x="386" y="817"/>
                </a:cubicBezTo>
                <a:cubicBezTo>
                  <a:pt x="633" y="294"/>
                  <a:pt x="968" y="0"/>
                  <a:pt x="1317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69" name="Text 0"/>
          <p:cNvSpPr txBox="1"/>
          <p:nvPr/>
        </p:nvSpPr>
        <p:spPr>
          <a:xfrm>
            <a:off x="-190420" y="102723"/>
            <a:ext cx="12100256" cy="849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5400" b="1">
                <a:solidFill>
                  <a:srgbClr val="289DD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IECS 2026</a:t>
            </a:r>
          </a:p>
        </p:txBody>
      </p:sp>
      <p:sp>
        <p:nvSpPr>
          <p:cNvPr id="170" name="Freeform 7"/>
          <p:cNvSpPr/>
          <p:nvPr/>
        </p:nvSpPr>
        <p:spPr>
          <a:xfrm>
            <a:off x="36536" y="5331364"/>
            <a:ext cx="1418390" cy="1426929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71" name="Developed an automated glaucoma detection system using retinal fundus images.…"/>
          <p:cNvSpPr txBox="1"/>
          <p:nvPr/>
        </p:nvSpPr>
        <p:spPr>
          <a:xfrm>
            <a:off x="785482" y="2023360"/>
            <a:ext cx="10621035" cy="2811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00526" indent="-200526" defTabSz="457200">
              <a:lnSpc>
                <a:spcPct val="120000"/>
              </a:lnSpc>
              <a:buSzPct val="100000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Developed an automated glaucoma detection system using retinal fundus images.</a:t>
            </a:r>
          </a:p>
          <a:p>
            <a:pPr marL="200526" indent="-200526" defTabSz="457200">
              <a:lnSpc>
                <a:spcPct val="120000"/>
              </a:lnSpc>
              <a:buSzPct val="100000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Combined IEMD, handcrafted features, ANOVA, and PCA for robust feature extraction and selection.</a:t>
            </a:r>
          </a:p>
          <a:p>
            <a:pPr marL="200526" indent="-200526" defTabSz="457200">
              <a:lnSpc>
                <a:spcPct val="120000"/>
              </a:lnSpc>
              <a:buSzPct val="100000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Achieved 89.43% Accuracy, 79.51% Sensitivity, and 94.85% Specificity using an ensemble classifier.</a:t>
            </a:r>
          </a:p>
          <a:p>
            <a:pPr marL="200526" indent="-200526" defTabSz="457200">
              <a:lnSpc>
                <a:spcPct val="120000"/>
              </a:lnSpc>
              <a:buSzPct val="100000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High specificity makes the system suitable for reliable large-scale glaucoma screening.</a:t>
            </a:r>
          </a:p>
          <a:p>
            <a:pPr marL="200526" indent="-200526" defTabSz="457200">
              <a:lnSpc>
                <a:spcPct val="120000"/>
              </a:lnSpc>
              <a:buSzPct val="100000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Future work includes multi-stage glaucoma grading, deep learning integration, and validation on larger clinical datasets.</a:t>
            </a:r>
          </a:p>
        </p:txBody>
      </p:sp>
      <p:sp>
        <p:nvSpPr>
          <p:cNvPr id="172" name="Text 4"/>
          <p:cNvSpPr txBox="1"/>
          <p:nvPr/>
        </p:nvSpPr>
        <p:spPr>
          <a:xfrm>
            <a:off x="45717" y="6564628"/>
            <a:ext cx="12100261" cy="23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100" spc="200">
                <a:solidFill>
                  <a:srgbClr val="6C928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VIT BHOPAL UNIVERSITY, INDIA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 1"/>
          <p:cNvSpPr txBox="1"/>
          <p:nvPr/>
        </p:nvSpPr>
        <p:spPr>
          <a:xfrm>
            <a:off x="5016836" y="854433"/>
            <a:ext cx="2158328" cy="531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3100" b="1">
                <a:solidFill>
                  <a:srgbClr val="365B6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References</a:t>
            </a:r>
          </a:p>
        </p:txBody>
      </p:sp>
      <p:sp>
        <p:nvSpPr>
          <p:cNvPr id="175" name="Shape 2"/>
          <p:cNvSpPr/>
          <p:nvPr/>
        </p:nvSpPr>
        <p:spPr>
          <a:xfrm>
            <a:off x="548640" y="1417319"/>
            <a:ext cx="11091672" cy="4937763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76" name="Freeform 5"/>
          <p:cNvSpPr/>
          <p:nvPr/>
        </p:nvSpPr>
        <p:spPr>
          <a:xfrm>
            <a:off x="8807604" y="90301"/>
            <a:ext cx="3102232" cy="12513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17" y="0"/>
                </a:moveTo>
                <a:lnTo>
                  <a:pt x="20283" y="0"/>
                </a:lnTo>
                <a:cubicBezTo>
                  <a:pt x="21010" y="0"/>
                  <a:pt x="21600" y="1249"/>
                  <a:pt x="21600" y="2789"/>
                </a:cubicBezTo>
                <a:lnTo>
                  <a:pt x="21600" y="18811"/>
                </a:lnTo>
                <a:cubicBezTo>
                  <a:pt x="21600" y="19551"/>
                  <a:pt x="21461" y="20260"/>
                  <a:pt x="21214" y="20783"/>
                </a:cubicBezTo>
                <a:cubicBezTo>
                  <a:pt x="20967" y="21306"/>
                  <a:pt x="20632" y="21600"/>
                  <a:pt x="20283" y="21600"/>
                </a:cubicBezTo>
                <a:lnTo>
                  <a:pt x="1317" y="21600"/>
                </a:lnTo>
                <a:cubicBezTo>
                  <a:pt x="968" y="21600"/>
                  <a:pt x="633" y="21306"/>
                  <a:pt x="386" y="20783"/>
                </a:cubicBezTo>
                <a:cubicBezTo>
                  <a:pt x="139" y="20260"/>
                  <a:pt x="0" y="19551"/>
                  <a:pt x="0" y="18811"/>
                </a:cubicBezTo>
                <a:lnTo>
                  <a:pt x="0" y="2789"/>
                </a:lnTo>
                <a:cubicBezTo>
                  <a:pt x="0" y="2049"/>
                  <a:pt x="139" y="1340"/>
                  <a:pt x="386" y="817"/>
                </a:cubicBezTo>
                <a:cubicBezTo>
                  <a:pt x="633" y="294"/>
                  <a:pt x="968" y="0"/>
                  <a:pt x="1317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77" name="Freeform 3"/>
          <p:cNvSpPr/>
          <p:nvPr/>
        </p:nvSpPr>
        <p:spPr>
          <a:xfrm>
            <a:off x="36878" y="2525"/>
            <a:ext cx="3102233" cy="14269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17" y="0"/>
                </a:moveTo>
                <a:lnTo>
                  <a:pt x="20283" y="0"/>
                </a:lnTo>
                <a:cubicBezTo>
                  <a:pt x="21010" y="0"/>
                  <a:pt x="21600" y="1249"/>
                  <a:pt x="21600" y="2789"/>
                </a:cubicBezTo>
                <a:lnTo>
                  <a:pt x="21600" y="18811"/>
                </a:lnTo>
                <a:cubicBezTo>
                  <a:pt x="21600" y="19551"/>
                  <a:pt x="21461" y="20260"/>
                  <a:pt x="21214" y="20783"/>
                </a:cubicBezTo>
                <a:cubicBezTo>
                  <a:pt x="20967" y="21306"/>
                  <a:pt x="20632" y="21600"/>
                  <a:pt x="20283" y="21600"/>
                </a:cubicBezTo>
                <a:lnTo>
                  <a:pt x="1317" y="21600"/>
                </a:lnTo>
                <a:cubicBezTo>
                  <a:pt x="968" y="21600"/>
                  <a:pt x="633" y="21306"/>
                  <a:pt x="386" y="20783"/>
                </a:cubicBezTo>
                <a:cubicBezTo>
                  <a:pt x="139" y="20260"/>
                  <a:pt x="0" y="19551"/>
                  <a:pt x="0" y="18811"/>
                </a:cubicBezTo>
                <a:lnTo>
                  <a:pt x="0" y="2789"/>
                </a:lnTo>
                <a:cubicBezTo>
                  <a:pt x="0" y="2049"/>
                  <a:pt x="139" y="1340"/>
                  <a:pt x="386" y="817"/>
                </a:cubicBezTo>
                <a:cubicBezTo>
                  <a:pt x="633" y="294"/>
                  <a:pt x="968" y="0"/>
                  <a:pt x="1317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78" name="Text 0"/>
          <p:cNvSpPr txBox="1"/>
          <p:nvPr/>
        </p:nvSpPr>
        <p:spPr>
          <a:xfrm>
            <a:off x="-190420" y="102723"/>
            <a:ext cx="12100256" cy="849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5400" b="1">
                <a:solidFill>
                  <a:srgbClr val="289DD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IECS 2026</a:t>
            </a:r>
          </a:p>
        </p:txBody>
      </p:sp>
      <p:sp>
        <p:nvSpPr>
          <p:cNvPr id="179" name="Freeform 7"/>
          <p:cNvSpPr/>
          <p:nvPr/>
        </p:nvSpPr>
        <p:spPr>
          <a:xfrm>
            <a:off x="36536" y="5394866"/>
            <a:ext cx="1397257" cy="1426927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80" name="[1] S. Maheshwari, R. B. Pachori, and U. R. Acharya, Automated Diagnosis of Glaucoma Using Empirical Wavelet Transform and Correntropy Features Extracted from Fundus Images, IEEE Journal of Biomedical and Health Informatics, 2017.…"/>
          <p:cNvSpPr txBox="1"/>
          <p:nvPr/>
        </p:nvSpPr>
        <p:spPr>
          <a:xfrm>
            <a:off x="963677" y="1697825"/>
            <a:ext cx="10264646" cy="3816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defTabSz="457200">
              <a:spcBef>
                <a:spcPts val="1200"/>
              </a:spcBef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[1] S. Maheshwari, R. B. Pachori, and U. R. Acharya, Automated Diagnosis of Glaucoma Using Empirical Wavelet Transform and Correntropy Features Extracted from Fundus Images, IEEE Journal of Biomedical and Health Informatics, 2017.</a:t>
            </a:r>
          </a:p>
          <a:p>
            <a:pPr defTabSz="457200">
              <a:spcBef>
                <a:spcPts val="1200"/>
              </a:spcBef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[2] B. S. Kirar and D. K. Agrawal, Computer Aided Diagnosis of Glaucoma Using Discrete and Empirical Wavelet Transform from Fundus Images, IET Image Processing, 2019.</a:t>
            </a:r>
          </a:p>
          <a:p>
            <a:pPr defTabSz="457200">
              <a:spcBef>
                <a:spcPts val="1200"/>
              </a:spcBef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[3] D. K. Agrawal, B. S. Kirar, and R. B. Pachori, Automated Glaucoma Detection Using Quasi-Bivariate Mode Decomposition from Fundus Images, IET Image Processing, 2019.</a:t>
            </a:r>
          </a:p>
          <a:p>
            <a:pPr defTabSz="457200">
              <a:spcBef>
                <a:spcPts val="1200"/>
              </a:spcBef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[4] S. Yi, L. Zhou, L. Ma, and D. Shao, MTRA-CNN: A Multi-Scale Transfer Learning Framework for Glaucoma Classification in Retinal Fundus Images, IEEE Access, 2023.</a:t>
            </a:r>
          </a:p>
          <a:p>
            <a:pPr defTabSz="457200">
              <a:spcBef>
                <a:spcPts val="1200"/>
              </a:spcBef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[5] D. Parashar and D. K. Agrawal, Classification of Glaucoma Stages Using Image Empirical Mode Decomposition from Fundus Images, Journal of Digital Imaging, 2022.</a:t>
            </a:r>
          </a:p>
          <a:p>
            <a:pPr defTabSz="457200">
              <a:spcBef>
                <a:spcPts val="1200"/>
              </a:spcBef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[6] A. Linderhed, Image Empirical Mode Decomposition: A New Tool for Image Processing, Advances in Adaptive Data Analysis, 2009.</a:t>
            </a:r>
          </a:p>
        </p:txBody>
      </p:sp>
      <p:sp>
        <p:nvSpPr>
          <p:cNvPr id="181" name="Text 4"/>
          <p:cNvSpPr txBox="1"/>
          <p:nvPr/>
        </p:nvSpPr>
        <p:spPr>
          <a:xfrm>
            <a:off x="45717" y="6564628"/>
            <a:ext cx="12100261" cy="23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100" spc="200">
                <a:solidFill>
                  <a:srgbClr val="6C928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VIT BHOPAL UNIVERSITY, INDIA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 1"/>
          <p:cNvSpPr txBox="1"/>
          <p:nvPr/>
        </p:nvSpPr>
        <p:spPr>
          <a:xfrm>
            <a:off x="5016836" y="854433"/>
            <a:ext cx="2158328" cy="531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3100" b="1">
                <a:solidFill>
                  <a:srgbClr val="365B6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References</a:t>
            </a:r>
          </a:p>
        </p:txBody>
      </p:sp>
      <p:sp>
        <p:nvSpPr>
          <p:cNvPr id="184" name="Shape 2"/>
          <p:cNvSpPr/>
          <p:nvPr/>
        </p:nvSpPr>
        <p:spPr>
          <a:xfrm>
            <a:off x="548640" y="1417319"/>
            <a:ext cx="11091672" cy="4937763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85" name="Freeform 5"/>
          <p:cNvSpPr/>
          <p:nvPr/>
        </p:nvSpPr>
        <p:spPr>
          <a:xfrm>
            <a:off x="8807604" y="90301"/>
            <a:ext cx="3102232" cy="12513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17" y="0"/>
                </a:moveTo>
                <a:lnTo>
                  <a:pt x="20283" y="0"/>
                </a:lnTo>
                <a:cubicBezTo>
                  <a:pt x="21010" y="0"/>
                  <a:pt x="21600" y="1249"/>
                  <a:pt x="21600" y="2789"/>
                </a:cubicBezTo>
                <a:lnTo>
                  <a:pt x="21600" y="18811"/>
                </a:lnTo>
                <a:cubicBezTo>
                  <a:pt x="21600" y="19551"/>
                  <a:pt x="21461" y="20260"/>
                  <a:pt x="21214" y="20783"/>
                </a:cubicBezTo>
                <a:cubicBezTo>
                  <a:pt x="20967" y="21306"/>
                  <a:pt x="20632" y="21600"/>
                  <a:pt x="20283" y="21600"/>
                </a:cubicBezTo>
                <a:lnTo>
                  <a:pt x="1317" y="21600"/>
                </a:lnTo>
                <a:cubicBezTo>
                  <a:pt x="968" y="21600"/>
                  <a:pt x="633" y="21306"/>
                  <a:pt x="386" y="20783"/>
                </a:cubicBezTo>
                <a:cubicBezTo>
                  <a:pt x="139" y="20260"/>
                  <a:pt x="0" y="19551"/>
                  <a:pt x="0" y="18811"/>
                </a:cubicBezTo>
                <a:lnTo>
                  <a:pt x="0" y="2789"/>
                </a:lnTo>
                <a:cubicBezTo>
                  <a:pt x="0" y="2049"/>
                  <a:pt x="139" y="1340"/>
                  <a:pt x="386" y="817"/>
                </a:cubicBezTo>
                <a:cubicBezTo>
                  <a:pt x="633" y="294"/>
                  <a:pt x="968" y="0"/>
                  <a:pt x="1317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86" name="Freeform 3"/>
          <p:cNvSpPr/>
          <p:nvPr/>
        </p:nvSpPr>
        <p:spPr>
          <a:xfrm>
            <a:off x="36878" y="2525"/>
            <a:ext cx="3102233" cy="14269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17" y="0"/>
                </a:moveTo>
                <a:lnTo>
                  <a:pt x="20283" y="0"/>
                </a:lnTo>
                <a:cubicBezTo>
                  <a:pt x="21010" y="0"/>
                  <a:pt x="21600" y="1249"/>
                  <a:pt x="21600" y="2789"/>
                </a:cubicBezTo>
                <a:lnTo>
                  <a:pt x="21600" y="18811"/>
                </a:lnTo>
                <a:cubicBezTo>
                  <a:pt x="21600" y="19551"/>
                  <a:pt x="21461" y="20260"/>
                  <a:pt x="21214" y="20783"/>
                </a:cubicBezTo>
                <a:cubicBezTo>
                  <a:pt x="20967" y="21306"/>
                  <a:pt x="20632" y="21600"/>
                  <a:pt x="20283" y="21600"/>
                </a:cubicBezTo>
                <a:lnTo>
                  <a:pt x="1317" y="21600"/>
                </a:lnTo>
                <a:cubicBezTo>
                  <a:pt x="968" y="21600"/>
                  <a:pt x="633" y="21306"/>
                  <a:pt x="386" y="20783"/>
                </a:cubicBezTo>
                <a:cubicBezTo>
                  <a:pt x="139" y="20260"/>
                  <a:pt x="0" y="19551"/>
                  <a:pt x="0" y="18811"/>
                </a:cubicBezTo>
                <a:lnTo>
                  <a:pt x="0" y="2789"/>
                </a:lnTo>
                <a:cubicBezTo>
                  <a:pt x="0" y="2049"/>
                  <a:pt x="139" y="1340"/>
                  <a:pt x="386" y="817"/>
                </a:cubicBezTo>
                <a:cubicBezTo>
                  <a:pt x="633" y="294"/>
                  <a:pt x="968" y="0"/>
                  <a:pt x="1317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87" name="Text 0"/>
          <p:cNvSpPr txBox="1"/>
          <p:nvPr/>
        </p:nvSpPr>
        <p:spPr>
          <a:xfrm>
            <a:off x="-190420" y="102723"/>
            <a:ext cx="12100256" cy="849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5400" b="1">
                <a:solidFill>
                  <a:srgbClr val="289DD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IECS 2026</a:t>
            </a:r>
          </a:p>
        </p:txBody>
      </p:sp>
      <p:sp>
        <p:nvSpPr>
          <p:cNvPr id="188" name="Freeform 7"/>
          <p:cNvSpPr/>
          <p:nvPr/>
        </p:nvSpPr>
        <p:spPr>
          <a:xfrm>
            <a:off x="36536" y="5394866"/>
            <a:ext cx="1397257" cy="1426927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89" name="[7] U. R. Acharya et al., Decision Support System for Glaucoma Using Gabor Transformation, Biomedical Signal Processing and Control, 2015.…"/>
          <p:cNvSpPr txBox="1"/>
          <p:nvPr/>
        </p:nvSpPr>
        <p:spPr>
          <a:xfrm>
            <a:off x="963677" y="1697825"/>
            <a:ext cx="10264646" cy="3588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defTabSz="457200">
              <a:spcBef>
                <a:spcPts val="1200"/>
              </a:spcBef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[7] U. R. Acharya et al., Decision Support System for Glaucoma Using Gabor Transformation, Biomedical Signal Processing and Control, 2015.</a:t>
            </a:r>
          </a:p>
          <a:p>
            <a:pPr defTabSz="457200">
              <a:spcBef>
                <a:spcPts val="1200"/>
              </a:spcBef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[8] J. Nayak, U. R. Acharya, P. S. Bhat et al., Automated Diagnosis of Glaucoma Using Digital Fundus Images, Journal of Medical Systems, 2009.</a:t>
            </a:r>
          </a:p>
          <a:p>
            <a:pPr defTabSz="457200">
              <a:spcBef>
                <a:spcPts val="1200"/>
              </a:spcBef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[9] K. P. Noronha, U. R. Acharya, K. Nayak et al., Automated Classification of Glaucoma Stages Using Higher Order Cumulant Features, Biomedical Signal Processing and Control, 2014.</a:t>
            </a:r>
          </a:p>
          <a:p>
            <a:pPr defTabSz="457200">
              <a:spcBef>
                <a:spcPts val="1200"/>
              </a:spcBef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[10] J. Cheng et al., Superpixel Classification Based Optic Disc and Optic Cup Segmentation for Glaucoma Screening, IEEE Transactions on Medical Imaging, 2013.</a:t>
            </a:r>
          </a:p>
          <a:p>
            <a:pPr defTabSz="457200">
              <a:spcBef>
                <a:spcPts val="1200"/>
              </a:spcBef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[11] L. Li et al., A Large-Scale Database and a CNN Model for Attention-Based Glaucoma Detection, IEEE Transactions on Medical Imaging, 2020.</a:t>
            </a:r>
          </a:p>
          <a:p>
            <a:pPr defTabSz="457200"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[12] M. C. V. Stella Mary, E. B. Rajsingh, and G. R. Naik, Retinal Fundus Image Analysis for Diagnosis of Glaucoma: A Survey, IEEE Access, vol. 4, pp. 4327–4354, 2016.</a:t>
            </a:r>
          </a:p>
        </p:txBody>
      </p:sp>
      <p:sp>
        <p:nvSpPr>
          <p:cNvPr id="190" name="Text 4"/>
          <p:cNvSpPr txBox="1"/>
          <p:nvPr/>
        </p:nvSpPr>
        <p:spPr>
          <a:xfrm>
            <a:off x="45717" y="6564628"/>
            <a:ext cx="12100261" cy="23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100" spc="200">
                <a:solidFill>
                  <a:srgbClr val="6C928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VIT BHOPAL UNIVERSITY, INDIA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1726</Words>
  <Application>Microsoft Office PowerPoint</Application>
  <PresentationFormat>Widescreen</PresentationFormat>
  <Paragraphs>160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Barlow Bold</vt:lpstr>
      <vt:lpstr>Calibri</vt:lpstr>
      <vt:lpstr>Calibri Light</vt:lpstr>
      <vt:lpstr>Helvetica</vt:lpstr>
      <vt:lpstr>Times New Roman</vt:lpstr>
      <vt:lpstr>Times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ZOYA EJAZ</dc:creator>
  <cp:lastModifiedBy>ZOYA EJAZ</cp:lastModifiedBy>
  <cp:revision>6</cp:revision>
  <dcterms:modified xsi:type="dcterms:W3CDTF">2026-07-17T07:09:18Z</dcterms:modified>
</cp:coreProperties>
</file>